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handoutMasterIdLst>
    <p:handoutMasterId r:id="rId22"/>
  </p:handoutMasterIdLst>
  <p:sldIdLst>
    <p:sldId id="261" r:id="rId3"/>
    <p:sldId id="279" r:id="rId4"/>
    <p:sldId id="273" r:id="rId5"/>
    <p:sldId id="262" r:id="rId6"/>
    <p:sldId id="264" r:id="rId7"/>
    <p:sldId id="275" r:id="rId8"/>
    <p:sldId id="263" r:id="rId9"/>
    <p:sldId id="265" r:id="rId10"/>
    <p:sldId id="277" r:id="rId11"/>
    <p:sldId id="270" r:id="rId12"/>
    <p:sldId id="266" r:id="rId13"/>
    <p:sldId id="268" r:id="rId14"/>
    <p:sldId id="269" r:id="rId15"/>
    <p:sldId id="281" r:id="rId16"/>
    <p:sldId id="274" r:id="rId17"/>
    <p:sldId id="278" r:id="rId18"/>
    <p:sldId id="280" r:id="rId19"/>
    <p:sldId id="282" r:id="rId20"/>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19" userDrawn="1">
          <p15:clr>
            <a:srgbClr val="A4A3A4"/>
          </p15:clr>
        </p15:guide>
        <p15:guide id="2" pos="221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3B3A"/>
    <a:srgbClr val="50B1A2"/>
    <a:srgbClr val="404040"/>
    <a:srgbClr val="2854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showGuides="1">
      <p:cViewPr varScale="1">
        <p:scale>
          <a:sx n="82" d="100"/>
          <a:sy n="82" d="100"/>
        </p:scale>
        <p:origin x="3520" y="192"/>
      </p:cViewPr>
      <p:guideLst>
        <p:guide orient="horz" pos="3119"/>
        <p:guide pos="2218"/>
      </p:guideLst>
    </p:cSldViewPr>
  </p:slideViewPr>
  <p:notesTextViewPr>
    <p:cViewPr>
      <p:scale>
        <a:sx n="1" d="1"/>
        <a:sy n="1" d="1"/>
      </p:scale>
      <p:origin x="0" y="0"/>
    </p:cViewPr>
  </p:notesTextViewPr>
  <p:notesViewPr>
    <p:cSldViewPr snapToGrid="0">
      <p:cViewPr varScale="1">
        <p:scale>
          <a:sx n="48" d="100"/>
          <a:sy n="48" d="100"/>
        </p:scale>
        <p:origin x="2744" y="52"/>
      </p:cViewPr>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B4C8B0-973A-4E17-992F-FD5B73E894A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C25BF1-1A01-4083-8D5E-E6FFD2EF458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1072515" rtl="0" eaLnBrk="1" latinLnBrk="0" hangingPunct="1">
      <a:defRPr sz="1410" kern="1200">
        <a:solidFill>
          <a:schemeClr val="tx1"/>
        </a:solidFill>
        <a:latin typeface="+mn-lt"/>
        <a:ea typeface="+mn-ea"/>
        <a:cs typeface="+mn-cs"/>
      </a:defRPr>
    </a:lvl1pPr>
    <a:lvl2pPr marL="536575" algn="l" defTabSz="1072515" rtl="0" eaLnBrk="1" latinLnBrk="0" hangingPunct="1">
      <a:defRPr sz="1410" kern="1200">
        <a:solidFill>
          <a:schemeClr val="tx1"/>
        </a:solidFill>
        <a:latin typeface="+mn-lt"/>
        <a:ea typeface="+mn-ea"/>
        <a:cs typeface="+mn-cs"/>
      </a:defRPr>
    </a:lvl2pPr>
    <a:lvl3pPr marL="1072515" algn="l" defTabSz="1072515" rtl="0" eaLnBrk="1" latinLnBrk="0" hangingPunct="1">
      <a:defRPr sz="1410" kern="1200">
        <a:solidFill>
          <a:schemeClr val="tx1"/>
        </a:solidFill>
        <a:latin typeface="+mn-lt"/>
        <a:ea typeface="+mn-ea"/>
        <a:cs typeface="+mn-cs"/>
      </a:defRPr>
    </a:lvl3pPr>
    <a:lvl4pPr marL="1609090" algn="l" defTabSz="1072515" rtl="0" eaLnBrk="1" latinLnBrk="0" hangingPunct="1">
      <a:defRPr sz="1410" kern="1200">
        <a:solidFill>
          <a:schemeClr val="tx1"/>
        </a:solidFill>
        <a:latin typeface="+mn-lt"/>
        <a:ea typeface="+mn-ea"/>
        <a:cs typeface="+mn-cs"/>
      </a:defRPr>
    </a:lvl4pPr>
    <a:lvl5pPr marL="2145665" algn="l" defTabSz="1072515" rtl="0" eaLnBrk="1" latinLnBrk="0" hangingPunct="1">
      <a:defRPr sz="1410" kern="1200">
        <a:solidFill>
          <a:schemeClr val="tx1"/>
        </a:solidFill>
        <a:latin typeface="+mn-lt"/>
        <a:ea typeface="+mn-ea"/>
        <a:cs typeface="+mn-cs"/>
      </a:defRPr>
    </a:lvl5pPr>
    <a:lvl6pPr marL="2681605" algn="l" defTabSz="1072515" rtl="0" eaLnBrk="1" latinLnBrk="0" hangingPunct="1">
      <a:defRPr sz="1410" kern="1200">
        <a:solidFill>
          <a:schemeClr val="tx1"/>
        </a:solidFill>
        <a:latin typeface="+mn-lt"/>
        <a:ea typeface="+mn-ea"/>
        <a:cs typeface="+mn-cs"/>
      </a:defRPr>
    </a:lvl6pPr>
    <a:lvl7pPr marL="3218180" algn="l" defTabSz="1072515" rtl="0" eaLnBrk="1" latinLnBrk="0" hangingPunct="1">
      <a:defRPr sz="1410" kern="1200">
        <a:solidFill>
          <a:schemeClr val="tx1"/>
        </a:solidFill>
        <a:latin typeface="+mn-lt"/>
        <a:ea typeface="+mn-ea"/>
        <a:cs typeface="+mn-cs"/>
      </a:defRPr>
    </a:lvl7pPr>
    <a:lvl8pPr marL="3754755" algn="l" defTabSz="1072515" rtl="0" eaLnBrk="1" latinLnBrk="0" hangingPunct="1">
      <a:defRPr sz="1410" kern="1200">
        <a:solidFill>
          <a:schemeClr val="tx1"/>
        </a:solidFill>
        <a:latin typeface="+mn-lt"/>
        <a:ea typeface="+mn-ea"/>
        <a:cs typeface="+mn-cs"/>
      </a:defRPr>
    </a:lvl8pPr>
    <a:lvl9pPr marL="4291330" algn="l" defTabSz="1072515" rtl="0" eaLnBrk="1" latinLnBrk="0" hangingPunct="1">
      <a:defRPr sz="141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904E964A-7CB3-454E-B956-0D763C36B8A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495018C-6876-4116-A14E-69A719EA206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904E964A-7CB3-454E-B956-0D763C36B8A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495018C-6876-4116-A14E-69A719EA206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904E964A-7CB3-454E-B956-0D763C36B8A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495018C-6876-4116-A14E-69A719EA206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904E964A-7CB3-454E-B956-0D763C36B8A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495018C-6876-4116-A14E-69A719EA206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472381" y="3618442"/>
            <a:ext cx="2901255" cy="532218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3471863" y="3618442"/>
            <a:ext cx="2915543" cy="5322183"/>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904E964A-7CB3-454E-B956-0D763C36B8A5}"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495018C-6876-4116-A14E-69A719EA206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904E964A-7CB3-454E-B956-0D763C36B8A5}"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495018C-6876-4116-A14E-69A719EA206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4E964A-7CB3-454E-B956-0D763C36B8A5}"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495018C-6876-4116-A14E-69A719EA2063}"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904E964A-7CB3-454E-B956-0D763C36B8A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495018C-6876-4116-A14E-69A719EA206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904E964A-7CB3-454E-B956-0D763C36B8A5}"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495018C-6876-4116-A14E-69A719EA206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904E964A-7CB3-454E-B956-0D763C36B8A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495018C-6876-4116-A14E-69A719EA206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904E964A-7CB3-454E-B956-0D763C36B8A5}"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495018C-6876-4116-A14E-69A719EA206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904E964A-7CB3-454E-B956-0D763C36B8A5}" type="datetimeFigureOut">
              <a:rPr lang="zh-CN" altLang="en-US" smtClean="0"/>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495018C-6876-4116-A14E-69A719EA206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2.jpeg"/><Relationship Id="rId14" Type="http://schemas.openxmlformats.org/officeDocument/2006/relationships/slideLayout" Target="../slideLayouts/slideLayout2.xml"/><Relationship Id="rId13" Type="http://schemas.openxmlformats.org/officeDocument/2006/relationships/themeOverride" Target="../theme/themeOverride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4" Type="http://schemas.openxmlformats.org/officeDocument/2006/relationships/slideLayout" Target="../slideLayouts/slideLayout2.xml"/><Relationship Id="rId13" Type="http://schemas.openxmlformats.org/officeDocument/2006/relationships/themeOverride" Target="../theme/themeOverride2.xml"/><Relationship Id="rId12" Type="http://schemas.openxmlformats.org/officeDocument/2006/relationships/image" Target="../media/image3.jpeg"/><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3" Type="http://schemas.openxmlformats.org/officeDocument/2006/relationships/slideLayout" Target="../slideLayouts/slideLayout2.xml"/><Relationship Id="rId12" Type="http://schemas.openxmlformats.org/officeDocument/2006/relationships/image" Target="../media/image4.png"/><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4" Type="http://schemas.openxmlformats.org/officeDocument/2006/relationships/slideLayout" Target="../slideLayouts/slideLayout2.xml"/><Relationship Id="rId13" Type="http://schemas.openxmlformats.org/officeDocument/2006/relationships/themeOverride" Target="../theme/themeOverride3.xml"/><Relationship Id="rId12" Type="http://schemas.openxmlformats.org/officeDocument/2006/relationships/image" Target="../media/image5.png"/><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9" Type="http://schemas.openxmlformats.org/officeDocument/2006/relationships/tags" Target="../tags/tag48.xml"/><Relationship Id="rId8" Type="http://schemas.openxmlformats.org/officeDocument/2006/relationships/tags" Target="../tags/tag47.xml"/><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3" Type="http://schemas.openxmlformats.org/officeDocument/2006/relationships/slideLayout" Target="../slideLayouts/slideLayout2.xml"/><Relationship Id="rId12" Type="http://schemas.openxmlformats.org/officeDocument/2006/relationships/image" Target="../media/image6.png"/><Relationship Id="rId11" Type="http://schemas.openxmlformats.org/officeDocument/2006/relationships/tags" Target="../tags/tag50.xml"/><Relationship Id="rId10" Type="http://schemas.openxmlformats.org/officeDocument/2006/relationships/tags" Target="../tags/tag49.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3" Type="http://schemas.openxmlformats.org/officeDocument/2006/relationships/slideLayout" Target="../slideLayouts/slideLayout2.xml"/><Relationship Id="rId12" Type="http://schemas.openxmlformats.org/officeDocument/2006/relationships/image" Target="../media/image7.png"/><Relationship Id="rId11" Type="http://schemas.openxmlformats.org/officeDocument/2006/relationships/tags" Target="../tags/tag60.xml"/><Relationship Id="rId10" Type="http://schemas.openxmlformats.org/officeDocument/2006/relationships/tags" Target="../tags/tag59.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3" Type="http://schemas.openxmlformats.org/officeDocument/2006/relationships/slideLayout" Target="../slideLayouts/slideLayout2.xml"/><Relationship Id="rId12" Type="http://schemas.openxmlformats.org/officeDocument/2006/relationships/image" Target="../media/image8.png"/><Relationship Id="rId11" Type="http://schemas.openxmlformats.org/officeDocument/2006/relationships/tags" Target="../tags/tag70.xml"/><Relationship Id="rId10" Type="http://schemas.openxmlformats.org/officeDocument/2006/relationships/tags" Target="../tags/tag69.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3" Type="http://schemas.openxmlformats.org/officeDocument/2006/relationships/tags" Target="../tags/tag72.xml"/><Relationship Id="rId2" Type="http://schemas.openxmlformats.org/officeDocument/2006/relationships/tags" Target="../tags/tag71.xml"/><Relationship Id="rId13" Type="http://schemas.openxmlformats.org/officeDocument/2006/relationships/slideLayout" Target="../slideLayouts/slideLayout2.xml"/><Relationship Id="rId12" Type="http://schemas.openxmlformats.org/officeDocument/2006/relationships/image" Target="../media/image9.png"/><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9" Type="http://schemas.openxmlformats.org/officeDocument/2006/relationships/tags" Target="../tags/tag88.xml"/><Relationship Id="rId8" Type="http://schemas.openxmlformats.org/officeDocument/2006/relationships/tags" Target="../tags/tag87.xml"/><Relationship Id="rId7" Type="http://schemas.openxmlformats.org/officeDocument/2006/relationships/tags" Target="../tags/tag86.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tags" Target="../tags/tag82.xml"/><Relationship Id="rId2" Type="http://schemas.openxmlformats.org/officeDocument/2006/relationships/tags" Target="../tags/tag81.xml"/><Relationship Id="rId13" Type="http://schemas.openxmlformats.org/officeDocument/2006/relationships/slideLayout" Target="../slideLayouts/slideLayout2.xml"/><Relationship Id="rId12" Type="http://schemas.openxmlformats.org/officeDocument/2006/relationships/image" Target="../media/image10.png"/><Relationship Id="rId11" Type="http://schemas.openxmlformats.org/officeDocument/2006/relationships/tags" Target="../tags/tag90.xml"/><Relationship Id="rId10" Type="http://schemas.openxmlformats.org/officeDocument/2006/relationships/tags" Target="../tags/tag89.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2" Type="http://schemas.openxmlformats.org/officeDocument/2006/relationships/slideLayout" Target="../slideLayouts/slideLayout2.xml"/><Relationship Id="rId11" Type="http://schemas.openxmlformats.org/officeDocument/2006/relationships/image" Target="../media/image11.png"/><Relationship Id="rId10" Type="http://schemas.openxmlformats.org/officeDocument/2006/relationships/tags" Target="../tags/tag99.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tags" Target="../tags/tag106.xml"/><Relationship Id="rId7" Type="http://schemas.openxmlformats.org/officeDocument/2006/relationships/tags" Target="../tags/tag105.xml"/><Relationship Id="rId6" Type="http://schemas.openxmlformats.org/officeDocument/2006/relationships/tags" Target="../tags/tag104.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3" Type="http://schemas.openxmlformats.org/officeDocument/2006/relationships/slideLayout" Target="../slideLayouts/slideLayout2.xml"/><Relationship Id="rId12" Type="http://schemas.openxmlformats.org/officeDocument/2006/relationships/image" Target="../media/image12.jpeg"/><Relationship Id="rId11" Type="http://schemas.openxmlformats.org/officeDocument/2006/relationships/tags" Target="../tags/tag109.xml"/><Relationship Id="rId10" Type="http://schemas.openxmlformats.org/officeDocument/2006/relationships/tags" Target="../tags/tag108.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tags" Target="../tags/tag116.xml"/><Relationship Id="rId7" Type="http://schemas.openxmlformats.org/officeDocument/2006/relationships/tags" Target="../tags/tag115.xml"/><Relationship Id="rId6" Type="http://schemas.openxmlformats.org/officeDocument/2006/relationships/tags" Target="../tags/tag114.xml"/><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3" Type="http://schemas.openxmlformats.org/officeDocument/2006/relationships/slideLayout" Target="../slideLayouts/slideLayout2.xml"/><Relationship Id="rId12" Type="http://schemas.openxmlformats.org/officeDocument/2006/relationships/image" Target="../media/image13.png"/><Relationship Id="rId11" Type="http://schemas.openxmlformats.org/officeDocument/2006/relationships/tags" Target="../tags/tag119.xml"/><Relationship Id="rId10" Type="http://schemas.openxmlformats.org/officeDocument/2006/relationships/tags" Target="../tags/tag118.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9" Type="http://schemas.openxmlformats.org/officeDocument/2006/relationships/tags" Target="../tags/tag127.xml"/><Relationship Id="rId8" Type="http://schemas.openxmlformats.org/officeDocument/2006/relationships/tags" Target="../tags/tag126.xml"/><Relationship Id="rId7" Type="http://schemas.openxmlformats.org/officeDocument/2006/relationships/tags" Target="../tags/tag125.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3" Type="http://schemas.openxmlformats.org/officeDocument/2006/relationships/slideLayout" Target="../slideLayouts/slideLayout2.xml"/><Relationship Id="rId12" Type="http://schemas.openxmlformats.org/officeDocument/2006/relationships/image" Target="../media/image14.png"/><Relationship Id="rId11" Type="http://schemas.openxmlformats.org/officeDocument/2006/relationships/tags" Target="../tags/tag129.xml"/><Relationship Id="rId10" Type="http://schemas.openxmlformats.org/officeDocument/2006/relationships/tags" Target="../tags/tag128.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9" Type="http://schemas.openxmlformats.org/officeDocument/2006/relationships/tags" Target="../tags/tag137.xml"/><Relationship Id="rId8" Type="http://schemas.openxmlformats.org/officeDocument/2006/relationships/tags" Target="../tags/tag136.xml"/><Relationship Id="rId7" Type="http://schemas.openxmlformats.org/officeDocument/2006/relationships/tags" Target="../tags/tag135.xml"/><Relationship Id="rId6" Type="http://schemas.openxmlformats.org/officeDocument/2006/relationships/tags" Target="../tags/tag134.xml"/><Relationship Id="rId5" Type="http://schemas.openxmlformats.org/officeDocument/2006/relationships/tags" Target="../tags/tag133.xml"/><Relationship Id="rId4" Type="http://schemas.openxmlformats.org/officeDocument/2006/relationships/tags" Target="../tags/tag132.xml"/><Relationship Id="rId3" Type="http://schemas.openxmlformats.org/officeDocument/2006/relationships/tags" Target="../tags/tag131.xml"/><Relationship Id="rId2" Type="http://schemas.openxmlformats.org/officeDocument/2006/relationships/tags" Target="../tags/tag130.xml"/><Relationship Id="rId13" Type="http://schemas.openxmlformats.org/officeDocument/2006/relationships/slideLayout" Target="../slideLayouts/slideLayout2.xml"/><Relationship Id="rId12" Type="http://schemas.openxmlformats.org/officeDocument/2006/relationships/image" Target="../media/image15.png"/><Relationship Id="rId11" Type="http://schemas.openxmlformats.org/officeDocument/2006/relationships/tags" Target="../tags/tag139.xml"/><Relationship Id="rId10" Type="http://schemas.openxmlformats.org/officeDocument/2006/relationships/tags" Target="../tags/tag138.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9" Type="http://schemas.openxmlformats.org/officeDocument/2006/relationships/tags" Target="../tags/tag147.xml"/><Relationship Id="rId8" Type="http://schemas.openxmlformats.org/officeDocument/2006/relationships/tags" Target="../tags/tag146.xml"/><Relationship Id="rId7" Type="http://schemas.openxmlformats.org/officeDocument/2006/relationships/tags" Target="../tags/tag145.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 Type="http://schemas.openxmlformats.org/officeDocument/2006/relationships/tags" Target="../tags/tag140.xml"/><Relationship Id="rId13" Type="http://schemas.openxmlformats.org/officeDocument/2006/relationships/slideLayout" Target="../slideLayouts/slideLayout2.xml"/><Relationship Id="rId12" Type="http://schemas.openxmlformats.org/officeDocument/2006/relationships/image" Target="../media/image16.png"/><Relationship Id="rId11" Type="http://schemas.openxmlformats.org/officeDocument/2006/relationships/tags" Target="../tags/tag149.xml"/><Relationship Id="rId10" Type="http://schemas.openxmlformats.org/officeDocument/2006/relationships/tags" Target="../tags/tag148.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9" Type="http://schemas.openxmlformats.org/officeDocument/2006/relationships/tags" Target="../tags/tag157.xml"/><Relationship Id="rId8" Type="http://schemas.openxmlformats.org/officeDocument/2006/relationships/tags" Target="../tags/tag156.xml"/><Relationship Id="rId7" Type="http://schemas.openxmlformats.org/officeDocument/2006/relationships/tags" Target="../tags/tag155.xml"/><Relationship Id="rId6" Type="http://schemas.openxmlformats.org/officeDocument/2006/relationships/tags" Target="../tags/tag154.xml"/><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tags" Target="../tags/tag151.xml"/><Relationship Id="rId2" Type="http://schemas.openxmlformats.org/officeDocument/2006/relationships/tags" Target="../tags/tag150.xml"/><Relationship Id="rId13" Type="http://schemas.openxmlformats.org/officeDocument/2006/relationships/slideLayout" Target="../slideLayouts/slideLayout2.xml"/><Relationship Id="rId12" Type="http://schemas.openxmlformats.org/officeDocument/2006/relationships/image" Target="../media/image17.png"/><Relationship Id="rId11" Type="http://schemas.openxmlformats.org/officeDocument/2006/relationships/tags" Target="../tags/tag159.xml"/><Relationship Id="rId10" Type="http://schemas.openxmlformats.org/officeDocument/2006/relationships/tags" Target="../tags/tag158.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9" Type="http://schemas.openxmlformats.org/officeDocument/2006/relationships/tags" Target="../tags/tag167.xml"/><Relationship Id="rId8" Type="http://schemas.openxmlformats.org/officeDocument/2006/relationships/tags" Target="../tags/tag166.xml"/><Relationship Id="rId7" Type="http://schemas.openxmlformats.org/officeDocument/2006/relationships/tags" Target="../tags/tag165.xml"/><Relationship Id="rId6" Type="http://schemas.openxmlformats.org/officeDocument/2006/relationships/tags" Target="../tags/tag164.xml"/><Relationship Id="rId5" Type="http://schemas.openxmlformats.org/officeDocument/2006/relationships/tags" Target="../tags/tag16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tags" Target="../tags/tag160.xml"/><Relationship Id="rId13" Type="http://schemas.openxmlformats.org/officeDocument/2006/relationships/slideLayout" Target="../slideLayouts/slideLayout2.xml"/><Relationship Id="rId12" Type="http://schemas.openxmlformats.org/officeDocument/2006/relationships/image" Target="../media/image18.jpeg"/><Relationship Id="rId11" Type="http://schemas.openxmlformats.org/officeDocument/2006/relationships/tags" Target="../tags/tag169.xml"/><Relationship Id="rId10" Type="http://schemas.openxmlformats.org/officeDocument/2006/relationships/tags" Target="../tags/tag168.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9" Type="http://schemas.openxmlformats.org/officeDocument/2006/relationships/tags" Target="../tags/tag177.xml"/><Relationship Id="rId8" Type="http://schemas.openxmlformats.org/officeDocument/2006/relationships/tags" Target="../tags/tag176.xml"/><Relationship Id="rId7" Type="http://schemas.openxmlformats.org/officeDocument/2006/relationships/tags" Target="../tags/tag175.xml"/><Relationship Id="rId6" Type="http://schemas.openxmlformats.org/officeDocument/2006/relationships/tags" Target="../tags/tag174.xml"/><Relationship Id="rId5" Type="http://schemas.openxmlformats.org/officeDocument/2006/relationships/tags" Target="../tags/tag173.xml"/><Relationship Id="rId4" Type="http://schemas.openxmlformats.org/officeDocument/2006/relationships/tags" Target="../tags/tag172.xml"/><Relationship Id="rId3" Type="http://schemas.openxmlformats.org/officeDocument/2006/relationships/tags" Target="../tags/tag171.xml"/><Relationship Id="rId2" Type="http://schemas.openxmlformats.org/officeDocument/2006/relationships/tags" Target="../tags/tag170.xml"/><Relationship Id="rId14" Type="http://schemas.openxmlformats.org/officeDocument/2006/relationships/slideLayout" Target="../slideLayouts/slideLayout2.xml"/><Relationship Id="rId13" Type="http://schemas.openxmlformats.org/officeDocument/2006/relationships/image" Target="../media/image19.png"/><Relationship Id="rId12" Type="http://schemas.openxmlformats.org/officeDocument/2006/relationships/image" Target="../media/image18.jpeg"/><Relationship Id="rId11" Type="http://schemas.openxmlformats.org/officeDocument/2006/relationships/tags" Target="../tags/tag179.xml"/><Relationship Id="rId10" Type="http://schemas.openxmlformats.org/officeDocument/2006/relationships/tags" Target="../tags/tag178.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0"/>
            <a:ext cx="6858635" cy="9906635"/>
          </a:xfrm>
          <a:prstGeom prst="rect">
            <a:avLst/>
          </a:prstGeom>
        </p:spPr>
      </p:pic>
      <p:pic>
        <p:nvPicPr>
          <p:cNvPr id="17" name="图片 16"/>
          <p:cNvPicPr/>
          <p:nvPr/>
        </p:nvPicPr>
        <p:blipFill>
          <a:blip r:embed="rId2"/>
          <a:srcRect l="6467" t="16898" r="8499"/>
          <a:stretch>
            <a:fillRect/>
          </a:stretch>
        </p:blipFill>
        <p:spPr>
          <a:xfrm>
            <a:off x="550545" y="1609725"/>
            <a:ext cx="3823335" cy="2213610"/>
          </a:xfrm>
          <a:prstGeom prst="rect">
            <a:avLst/>
          </a:prstGeom>
        </p:spPr>
      </p:pic>
      <p:sp>
        <p:nvSpPr>
          <p:cNvPr id="5" name="文本框 4"/>
          <p:cNvSpPr txBox="1"/>
          <p:nvPr/>
        </p:nvSpPr>
        <p:spPr>
          <a:xfrm>
            <a:off x="450215" y="741680"/>
            <a:ext cx="6662420" cy="677545"/>
          </a:xfrm>
          <a:prstGeom prst="rect">
            <a:avLst/>
          </a:prstGeom>
          <a:noFill/>
        </p:spPr>
        <p:txBody>
          <a:bodyPr wrap="square" rtlCol="0">
            <a:noAutofit/>
          </a:bodyPr>
          <a:lstStyle/>
          <a:p>
            <a:r>
              <a:rPr lang="en-US" altLang="zh-CN" b="1" dirty="0">
                <a:solidFill>
                  <a:srgbClr val="28548E"/>
                </a:solidFill>
                <a:latin typeface="+mj-lt"/>
              </a:rPr>
              <a:t>LAWSON Transforms Budgeting with EVOX: </a:t>
            </a:r>
            <a:endParaRPr lang="en-US" altLang="zh-CN" b="1" dirty="0">
              <a:solidFill>
                <a:srgbClr val="28548E"/>
              </a:solidFill>
              <a:latin typeface="+mj-lt"/>
            </a:endParaRPr>
          </a:p>
          <a:p>
            <a:r>
              <a:rPr lang="en-US" altLang="zh-CN" sz="1400" b="1" dirty="0">
                <a:solidFill>
                  <a:srgbClr val="28548E"/>
                </a:solidFill>
                <a:latin typeface="+mj-lt"/>
              </a:rPr>
              <a:t>Empowering Finance with Agility Across 6,300+ Stores</a:t>
            </a:r>
            <a:endParaRPr lang="en-US" altLang="zh-CN" sz="1400" b="1" dirty="0">
              <a:solidFill>
                <a:srgbClr val="28548E"/>
              </a:solidFill>
              <a:latin typeface="+mj-lt"/>
            </a:endParaRPr>
          </a:p>
        </p:txBody>
      </p:sp>
      <p:sp>
        <p:nvSpPr>
          <p:cNvPr id="16" name="文本框 15"/>
          <p:cNvSpPr txBox="1"/>
          <p:nvPr/>
        </p:nvSpPr>
        <p:spPr>
          <a:xfrm>
            <a:off x="4486910" y="1417955"/>
            <a:ext cx="2304415" cy="2368550"/>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LAWSON China, the largest overseas subsidiary of Japan’s LAWSON Inc., operates 6,300+ convenience stores nationwide. As a fast-growing leader in China’s retail sector, it is accelerating digital transformation to support rapid expansion and ambitious revenue growth.</a:t>
            </a:r>
            <a:endParaRPr lang="en-US" altLang="zh-CN" sz="1200"/>
          </a:p>
        </p:txBody>
      </p:sp>
      <p:grpSp>
        <p:nvGrpSpPr>
          <p:cNvPr id="6" name="组合 5"/>
          <p:cNvGrpSpPr/>
          <p:nvPr>
            <p:custDataLst>
              <p:tags r:id="rId3"/>
            </p:custDataLst>
          </p:nvPr>
        </p:nvGrpSpPr>
        <p:grpSpPr>
          <a:xfrm>
            <a:off x="492404" y="4001110"/>
            <a:ext cx="6080760" cy="801370"/>
            <a:chOff x="687521" y="2481945"/>
            <a:chExt cx="6080760" cy="801370"/>
          </a:xfrm>
        </p:grpSpPr>
        <p:sp>
          <p:nvSpPr>
            <p:cNvPr id="7" name="文本框 6"/>
            <p:cNvSpPr txBox="1"/>
            <p:nvPr>
              <p:custDataLst>
                <p:tags r:id="rId4"/>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5"/>
              </p:custDataLst>
            </p:nvPr>
          </p:nvSpPr>
          <p:spPr>
            <a:xfrm>
              <a:off x="707841" y="2730230"/>
              <a:ext cx="6060440" cy="55308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Rapid business expansion required scalable and unified budgeting processes.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Heavy reliance on manual operations hindered efficiency and transparency.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Lack of real-time forecasting and integrated financial oversight.</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6"/>
            </p:custDataLst>
          </p:nvPr>
        </p:nvGrpSpPr>
        <p:grpSpPr>
          <a:xfrm>
            <a:off x="512724" y="4817936"/>
            <a:ext cx="6381750" cy="955040"/>
            <a:chOff x="687521" y="3308283"/>
            <a:chExt cx="6381750" cy="955040"/>
          </a:xfrm>
        </p:grpSpPr>
        <p:sp>
          <p:nvSpPr>
            <p:cNvPr id="10" name="文本框 9"/>
            <p:cNvSpPr txBox="1"/>
            <p:nvPr>
              <p:custDataLst>
                <p:tags r:id="rId7"/>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8"/>
              </p:custDataLst>
            </p:nvPr>
          </p:nvSpPr>
          <p:spPr>
            <a:xfrm>
              <a:off x="707841" y="3556568"/>
              <a:ext cx="6361430" cy="70675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Centralized budgeting framework combining manual input and automated data integration.</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Multi-dimensional scenario planning aligning HQ strategy with store-level execution.</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End-to-end budgeting automation with version control and audit tracking.</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AI-powered forecasting for rapid analysis and adaptive planning. </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9"/>
            </p:custDataLst>
          </p:nvPr>
        </p:nvGrpSpPr>
        <p:grpSpPr>
          <a:xfrm>
            <a:off x="532765" y="6757670"/>
            <a:ext cx="6680200" cy="1927860"/>
            <a:chOff x="687521" y="4347981"/>
            <a:chExt cx="7713345" cy="1927860"/>
          </a:xfrm>
        </p:grpSpPr>
        <p:sp>
          <p:nvSpPr>
            <p:cNvPr id="13" name="文本框 12"/>
            <p:cNvSpPr txBox="1"/>
            <p:nvPr>
              <p:custDataLst>
                <p:tags r:id="rId10"/>
              </p:custDataLst>
            </p:nvPr>
          </p:nvSpPr>
          <p:spPr>
            <a:xfrm>
              <a:off x="687521" y="4347981"/>
              <a:ext cx="4241991" cy="306705"/>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1"/>
              </p:custDataLst>
            </p:nvPr>
          </p:nvSpPr>
          <p:spPr>
            <a:xfrm>
              <a:off x="708051" y="4596266"/>
              <a:ext cx="7692815" cy="1679575"/>
            </a:xfrm>
            <a:prstGeom prst="rect">
              <a:avLst/>
            </a:prstGeom>
            <a:noFill/>
          </p:spPr>
          <p:txBody>
            <a:bodyPr vert="horz" wrap="square" rtlCol="0" anchor="t" anchorCtr="0">
              <a:noAutofit/>
            </a:bodyPr>
            <a:lstStyle/>
            <a:p>
              <a:pPr marL="171450" lvl="0" indent="-171450" algn="l" fontAlgn="b">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95%:</a:t>
              </a:r>
              <a:r>
                <a:rPr lang="en-US" altLang="zh-CN" sz="1200" b="1"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Process automation eliminated manual errors and significantly improve </a:t>
              </a:r>
              <a:endParaRPr lang="en-US" altLang="zh-CN" sz="1200" kern="200" dirty="0">
                <a:solidFill>
                  <a:srgbClr val="3F3B3A"/>
                </a:solidFill>
                <a:latin typeface="Calibri" panose="020F0502020204030204" pitchFamily="34" charset="0"/>
              </a:endParaRPr>
            </a:p>
            <a:p>
              <a:pPr marL="171450" lvl="0" indent="-171450" algn="l" fontAlgn="b">
                <a:lnSpc>
                  <a:spcPct val="120000"/>
                </a:lnSpc>
                <a:spcBef>
                  <a:spcPts val="0"/>
                </a:spcBef>
                <a:spcAft>
                  <a:spcPts val="0"/>
                </a:spcAft>
                <a:buFont typeface="Arial" panose="020B0604020202020204" pitchFamily="34" charset="0"/>
                <a:buChar char="•"/>
              </a:pPr>
              <a:r>
                <a:rPr lang="en-US" altLang="zh-CN" sz="1200" kern="200" dirty="0">
                  <a:solidFill>
                    <a:srgbClr val="3F3B3A"/>
                  </a:solidFill>
                  <a:latin typeface="Calibri" panose="020F0502020204030204" pitchFamily="34" charset="0"/>
                </a:rPr>
                <a:t>operational efficiency.</a:t>
              </a:r>
              <a:endParaRPr lang="en-US" altLang="zh-CN" sz="1200" kern="200" dirty="0">
                <a:solidFill>
                  <a:srgbClr val="3F3B3A"/>
                </a:solidFill>
                <a:latin typeface="Calibri" panose="020F0502020204030204" pitchFamily="34" charset="0"/>
              </a:endParaRPr>
            </a:p>
            <a:p>
              <a:pPr marL="171450" lvl="0" indent="-171450" algn="l" fontAlgn="b">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60%:</a:t>
              </a:r>
              <a:r>
                <a:rPr lang="en-US" altLang="zh-CN" sz="1200" b="1"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Reduction in budget cycle time accelerated both planning and execution.</a:t>
              </a:r>
              <a:endParaRPr lang="en-US" altLang="zh-CN" sz="1200" kern="200" dirty="0">
                <a:solidFill>
                  <a:srgbClr val="3F3B3A"/>
                </a:solidFill>
                <a:latin typeface="Calibri" panose="020F0502020204030204" pitchFamily="34" charset="0"/>
              </a:endParaRPr>
            </a:p>
            <a:p>
              <a:pPr marL="171450" lvl="0" indent="-171450" algn="l" fontAlgn="b">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360</a:t>
              </a:r>
              <a:r>
                <a:rPr lang="zh-CN" altLang="en-US" sz="1200" b="1" i="1" u="sng" kern="200" dirty="0">
                  <a:solidFill>
                    <a:srgbClr val="3F3B3A"/>
                  </a:solidFill>
                  <a:latin typeface="Calibri" panose="020F0502020204030204" pitchFamily="34" charset="0"/>
                </a:rPr>
                <a:t>°</a:t>
              </a:r>
              <a:r>
                <a:rPr lang="en-US" altLang="en-US" sz="1200" b="1" i="1" u="sng" kern="200" dirty="0">
                  <a:solidFill>
                    <a:srgbClr val="3F3B3A"/>
                  </a:solidFill>
                  <a:latin typeface="Calibri" panose="020F0502020204030204" pitchFamily="34" charset="0"/>
                </a:rPr>
                <a:t>:</a:t>
              </a:r>
              <a:r>
                <a:rPr lang="en-US" altLang="en-US" sz="1200" b="1"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Comprehensive visibility into financial performance at both store and </a:t>
              </a:r>
              <a:endParaRPr lang="en-US" altLang="zh-CN" sz="1200" kern="200" dirty="0">
                <a:solidFill>
                  <a:srgbClr val="3F3B3A"/>
                </a:solidFill>
                <a:latin typeface="Calibri" panose="020F0502020204030204" pitchFamily="34" charset="0"/>
              </a:endParaRPr>
            </a:p>
            <a:p>
              <a:pPr marL="171450" lvl="0" indent="-171450" algn="l" fontAlgn="b">
                <a:lnSpc>
                  <a:spcPct val="120000"/>
                </a:lnSpc>
                <a:spcBef>
                  <a:spcPts val="0"/>
                </a:spcBef>
                <a:spcAft>
                  <a:spcPts val="0"/>
                </a:spcAft>
                <a:buFont typeface="Arial" panose="020B0604020202020204" pitchFamily="34" charset="0"/>
                <a:buChar char="•"/>
              </a:pPr>
              <a:r>
                <a:rPr lang="en-US" altLang="zh-CN" sz="1200" kern="200" dirty="0">
                  <a:solidFill>
                    <a:srgbClr val="3F3B3A"/>
                  </a:solidFill>
                  <a:latin typeface="Calibri" panose="020F0502020204030204" pitchFamily="34" charset="0"/>
                </a:rPr>
                <a:t>regional levels.</a:t>
              </a:r>
              <a:endParaRPr lang="en-US" altLang="zh-CN" sz="1200" kern="200" dirty="0">
                <a:solidFill>
                  <a:srgbClr val="3F3B3A"/>
                </a:solidFill>
                <a:latin typeface="Calibri" panose="020F0502020204030204" pitchFamily="34" charset="0"/>
              </a:endParaRPr>
            </a:p>
            <a:p>
              <a:pPr marL="171450" lvl="0" indent="-171450" algn="l" fontAlgn="b">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3x Faster:</a:t>
              </a:r>
              <a:r>
                <a:rPr lang="en-US" altLang="zh-CN" sz="1200" b="1"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Resource reallocation in response to market changes enabled quicker </a:t>
              </a:r>
              <a:endParaRPr lang="en-US" altLang="zh-CN" sz="1200" kern="200" dirty="0">
                <a:solidFill>
                  <a:srgbClr val="3F3B3A"/>
                </a:solidFill>
                <a:latin typeface="Calibri" panose="020F0502020204030204" pitchFamily="34" charset="0"/>
              </a:endParaRPr>
            </a:p>
            <a:p>
              <a:pPr marL="171450" lvl="0" indent="-171450" algn="l" fontAlgn="b">
                <a:lnSpc>
                  <a:spcPct val="120000"/>
                </a:lnSpc>
                <a:spcBef>
                  <a:spcPts val="0"/>
                </a:spcBef>
                <a:spcAft>
                  <a:spcPts val="0"/>
                </a:spcAft>
                <a:buFont typeface="Arial" panose="020B0604020202020204" pitchFamily="34" charset="0"/>
                <a:buChar char="•"/>
              </a:pPr>
              <a:r>
                <a:rPr lang="en-US" altLang="zh-CN" sz="1200" kern="200" dirty="0">
                  <a:solidFill>
                    <a:srgbClr val="3F3B3A"/>
                  </a:solidFill>
                  <a:latin typeface="Calibri" panose="020F0502020204030204" pitchFamily="34" charset="0"/>
                </a:rPr>
                <a:t>business adjustments.</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2"/>
            </p:custDataLst>
          </p:nvPr>
        </p:nvSpPr>
        <p:spPr>
          <a:xfrm>
            <a:off x="512445" y="5492750"/>
            <a:ext cx="5875020" cy="1091565"/>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EVOX enabled LAWSON China to break down silos between finance and operations, building an agile, insight-driven budgeting system that scales with growth—empowering decision-making across 6,300+ retail stores.</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10210" y="6701155"/>
            <a:ext cx="6159500" cy="1989455"/>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文本框 2"/>
          <p:cNvSpPr txBox="1"/>
          <p:nvPr/>
        </p:nvSpPr>
        <p:spPr>
          <a:xfrm>
            <a:off x="5361940" y="179070"/>
            <a:ext cx="1256665"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Retail </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0"/>
            <a:ext cx="6858635" cy="9906635"/>
          </a:xfrm>
          <a:prstGeom prst="rect">
            <a:avLst/>
          </a:prstGeom>
        </p:spPr>
      </p:pic>
      <p:sp>
        <p:nvSpPr>
          <p:cNvPr id="5" name="文本框 4"/>
          <p:cNvSpPr txBox="1"/>
          <p:nvPr/>
        </p:nvSpPr>
        <p:spPr>
          <a:xfrm>
            <a:off x="461010" y="627380"/>
            <a:ext cx="6274435" cy="677545"/>
          </a:xfrm>
          <a:prstGeom prst="rect">
            <a:avLst/>
          </a:prstGeom>
          <a:noFill/>
        </p:spPr>
        <p:txBody>
          <a:bodyPr wrap="square" rtlCol="0">
            <a:noAutofit/>
          </a:bodyPr>
          <a:lstStyle/>
          <a:p>
            <a:pPr algn="l">
              <a:lnSpc>
                <a:spcPct val="100000"/>
              </a:lnSpc>
            </a:pPr>
            <a:r>
              <a:rPr lang="en-US" altLang="zh-CN" sz="1600" b="1" dirty="0">
                <a:solidFill>
                  <a:srgbClr val="28548E"/>
                </a:solidFill>
                <a:latin typeface="+mj-lt"/>
              </a:rPr>
              <a:t>Mixue Ice Cream &amp; Tea: </a:t>
            </a:r>
            <a:endParaRPr lang="en-US" altLang="zh-CN" sz="1600" b="1" dirty="0">
              <a:solidFill>
                <a:srgbClr val="28548E"/>
              </a:solidFill>
              <a:latin typeface="+mj-lt"/>
            </a:endParaRPr>
          </a:p>
          <a:p>
            <a:pPr algn="l">
              <a:lnSpc>
                <a:spcPct val="100000"/>
              </a:lnSpc>
            </a:pPr>
            <a:r>
              <a:rPr lang="en-US" altLang="zh-CN" sz="1400" b="1" dirty="0">
                <a:solidFill>
                  <a:srgbClr val="28548E"/>
                </a:solidFill>
                <a:latin typeface="+mj-lt"/>
              </a:rPr>
              <a:t>Global Food &amp; Beverage Giant Driving Enterprise-Wide Strategic Alignments with EVOX Budgeting and Planning Solution</a:t>
            </a:r>
            <a:endParaRPr lang="en-US" altLang="zh-CN" sz="1400" b="1" dirty="0">
              <a:solidFill>
                <a:srgbClr val="28548E"/>
              </a:solidFill>
              <a:latin typeface="+mj-lt"/>
            </a:endParaRPr>
          </a:p>
        </p:txBody>
      </p:sp>
      <p:sp>
        <p:nvSpPr>
          <p:cNvPr id="16" name="文本框 15"/>
          <p:cNvSpPr txBox="1"/>
          <p:nvPr/>
        </p:nvSpPr>
        <p:spPr>
          <a:xfrm>
            <a:off x="4486910" y="1221105"/>
            <a:ext cx="2304415" cy="2368550"/>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dirty="0" err="1">
                <a:sym typeface="+mn-ea"/>
              </a:rPr>
              <a:t>Mixue</a:t>
            </a:r>
            <a:r>
              <a:rPr lang="en-US" altLang="zh-CN" sz="1200" dirty="0">
                <a:sym typeface="+mn-ea"/>
              </a:rPr>
              <a:t> Ice Cream &amp; Tea (“</a:t>
            </a:r>
            <a:r>
              <a:rPr lang="en-US" altLang="zh-CN" sz="1200" dirty="0" err="1">
                <a:sym typeface="+mn-ea"/>
              </a:rPr>
              <a:t>Mixue</a:t>
            </a:r>
            <a:r>
              <a:rPr lang="en-US" altLang="zh-CN" sz="1200" dirty="0">
                <a:sym typeface="+mn-ea"/>
              </a:rPr>
              <a:t>”) is a fast-growing force in the global food and beverage market, operating a fully integrated value chain， from product innovation and large-scale production to worldwide logistics, sales, and thousands of retail outlets.</a:t>
            </a:r>
            <a:endParaRPr lang="en-US" altLang="zh-CN" sz="1200" dirty="0"/>
          </a:p>
          <a:p>
            <a:endParaRPr lang="en-US" altLang="zh-CN" sz="1200"/>
          </a:p>
        </p:txBody>
      </p:sp>
      <p:grpSp>
        <p:nvGrpSpPr>
          <p:cNvPr id="6" name="组合 5"/>
          <p:cNvGrpSpPr/>
          <p:nvPr>
            <p:custDataLst>
              <p:tags r:id="rId2"/>
            </p:custDataLst>
          </p:nvPr>
        </p:nvGrpSpPr>
        <p:grpSpPr>
          <a:xfrm>
            <a:off x="492404" y="3350870"/>
            <a:ext cx="6080760" cy="1263015"/>
            <a:chOff x="687521" y="2481945"/>
            <a:chExt cx="6080760" cy="1263015"/>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060440" cy="1014730"/>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Decentralized Budgeting: Different practices across six business units made unified budget control  difficult.</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Manual &amp; Low-Granularity Processes: Sales budgets lacked detail; production budgeting relied on manual, complex workflows, making planning time-consuming.</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Intercompany Complexity: Multiple internal transactions created heavy consolidation and elimination workloads.</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512724" y="4574096"/>
            <a:ext cx="6381750" cy="1263015"/>
            <a:chOff x="687521" y="3308283"/>
            <a:chExt cx="6381750" cy="1263015"/>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841" y="3556568"/>
              <a:ext cx="6361430" cy="1014730"/>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Consolidated Framework: Established group- and unit-level budget centers to enhance collaboration and synergy.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Refined Budgeting: Shifted to driver-based models with detailed sales (by region, channel, SKU) and production budgeting linked to BOM and consumption data.</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AI-Driven Forecasting: Improved forecast accuracy to 98%, halved planning time, and enabled dynamic scenario planning.</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532765" y="6685281"/>
            <a:ext cx="6111240" cy="2000251"/>
            <a:chOff x="687521" y="4384017"/>
            <a:chExt cx="7056391" cy="1891826"/>
          </a:xfrm>
        </p:grpSpPr>
        <p:sp>
          <p:nvSpPr>
            <p:cNvPr id="13" name="文本框 12"/>
            <p:cNvSpPr txBox="1"/>
            <p:nvPr>
              <p:custDataLst>
                <p:tags r:id="rId9"/>
              </p:custDataLst>
            </p:nvPr>
          </p:nvSpPr>
          <p:spPr>
            <a:xfrm>
              <a:off x="687521" y="4384017"/>
              <a:ext cx="4241991" cy="290080"/>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8051" y="4596022"/>
              <a:ext cx="7035861" cy="1679821"/>
            </a:xfrm>
            <a:prstGeom prst="rect">
              <a:avLst/>
            </a:prstGeom>
            <a:noFill/>
          </p:spPr>
          <p:txBody>
            <a:bodyPr wrap="square" rtlCol="0">
              <a:noAutofit/>
            </a:bodyPr>
            <a:lstStyle/>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sym typeface="+mn-ea"/>
                </a:rPr>
                <a:t>Efficiency &amp; Automation: </a:t>
              </a:r>
              <a:r>
                <a:rPr lang="en-US" altLang="zh-CN" sz="1200" kern="200" dirty="0">
                  <a:solidFill>
                    <a:srgbClr val="3F3B3A"/>
                  </a:solidFill>
                  <a:latin typeface="Calibri" panose="020F0502020204030204" pitchFamily="34" charset="0"/>
                  <a:sym typeface="+mn-ea"/>
                </a:rPr>
                <a:t>Centralized data and automation cut planning cycles</a:t>
              </a:r>
              <a:endParaRPr lang="en-US" altLang="zh-CN" sz="1200" kern="200" dirty="0">
                <a:solidFill>
                  <a:srgbClr val="3F3B3A"/>
                </a:solidFill>
                <a:latin typeface="Calibri" panose="020F0502020204030204" pitchFamily="34" charset="0"/>
                <a:sym typeface="+mn-ea"/>
              </a:endParaRPr>
            </a:p>
            <a:p>
              <a:pPr indent="0">
                <a:lnSpc>
                  <a:spcPct val="120000"/>
                </a:lnSpc>
                <a:spcBef>
                  <a:spcPts val="0"/>
                </a:spcBef>
                <a:spcAft>
                  <a:spcPts val="0"/>
                </a:spcAft>
                <a:buFont typeface="Arial" panose="020B0604020202020204" pitchFamily="34" charset="0"/>
                <a:buNone/>
              </a:pPr>
              <a:r>
                <a:rPr lang="en-US" altLang="zh-CN" sz="1200" kern="200" dirty="0">
                  <a:solidFill>
                    <a:srgbClr val="3F3B3A"/>
                  </a:solidFill>
                  <a:latin typeface="Calibri" panose="020F0502020204030204" pitchFamily="34" charset="0"/>
                  <a:sym typeface="+mn-ea"/>
                </a:rPr>
                <a:t>    from months to days, shifting from manual handling to insight-driven decisions.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sym typeface="+mn-ea"/>
                </a:rPr>
                <a:t>Accuracy &amp; Trust:</a:t>
              </a:r>
              <a:r>
                <a:rPr lang="en-US" altLang="zh-CN" sz="1200" kern="200" dirty="0">
                  <a:solidFill>
                    <a:srgbClr val="3F3B3A"/>
                  </a:solidFill>
                  <a:latin typeface="Calibri" panose="020F0502020204030204" pitchFamily="34" charset="0"/>
                  <a:sym typeface="+mn-ea"/>
                </a:rPr>
                <a:t> Integrated model boosts forecast reliability, KPI tracking, and predictive financial modeling.</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sym typeface="+mn-ea"/>
                </a:rPr>
                <a:t>Collaboration &amp; Alignment:</a:t>
              </a:r>
              <a:r>
                <a:rPr lang="en-US" altLang="zh-CN" sz="1200" kern="200" dirty="0">
                  <a:solidFill>
                    <a:srgbClr val="3F3B3A"/>
                  </a:solidFill>
                  <a:latin typeface="Calibri" panose="020F0502020204030204" pitchFamily="34" charset="0"/>
                  <a:sym typeface="+mn-ea"/>
                </a:rPr>
                <a:t> EVOX links departments, integrates systems, and aligns budgeting with strategic goals.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sym typeface="+mn-ea"/>
                </a:rPr>
                <a:t>Granularity &amp; Control:</a:t>
              </a:r>
              <a:r>
                <a:rPr lang="en-US" altLang="zh-CN" sz="1200" kern="200" dirty="0">
                  <a:solidFill>
                    <a:srgbClr val="3F3B3A"/>
                  </a:solidFill>
                  <a:latin typeface="Calibri" panose="020F0502020204030204" pitchFamily="34" charset="0"/>
                  <a:sym typeface="+mn-ea"/>
                </a:rPr>
                <a:t> Flexible planning across SKUs, stores, and departments with multiple budgeting approaches.</a:t>
              </a:r>
              <a:endParaRPr lang="en-US" altLang="zh-CN" sz="1200" kern="200" dirty="0">
                <a:solidFill>
                  <a:srgbClr val="3F3B3A"/>
                </a:solidFill>
                <a:latin typeface="Calibri" panose="020F0502020204030204" pitchFamily="34" charset="0"/>
              </a:endParaRPr>
            </a:p>
            <a:p>
              <a:pPr>
                <a:lnSpc>
                  <a:spcPct val="120000"/>
                </a:lnSpc>
                <a:spcBef>
                  <a:spcPts val="0"/>
                </a:spcBef>
                <a:spcAft>
                  <a:spcPts val="0"/>
                </a:spcAft>
              </a:pP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512445" y="5505450"/>
            <a:ext cx="5875020" cy="1091565"/>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Mixue chose EVOX for its powerful budgeting capabilities, proven implementation expertise, and track record in serving large-scale chain enterprises, enabling efficient financial control during global expansion.</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10210" y="6647180"/>
            <a:ext cx="6159500" cy="2171065"/>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 name="文本框 2"/>
          <p:cNvSpPr txBox="1"/>
          <p:nvPr/>
        </p:nvSpPr>
        <p:spPr>
          <a:xfrm>
            <a:off x="5264150" y="179070"/>
            <a:ext cx="1122680"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Retail </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pic>
        <p:nvPicPr>
          <p:cNvPr id="19" name="图片 18" descr="蜜雪冰城"/>
          <p:cNvPicPr>
            <a:picLocks noChangeAspect="1"/>
          </p:cNvPicPr>
          <p:nvPr/>
        </p:nvPicPr>
        <p:blipFill>
          <a:blip r:embed="rId12"/>
          <a:stretch>
            <a:fillRect/>
          </a:stretch>
        </p:blipFill>
        <p:spPr>
          <a:xfrm>
            <a:off x="551180" y="1478280"/>
            <a:ext cx="3815715" cy="1835150"/>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538480" y="612140"/>
            <a:ext cx="5810885" cy="525780"/>
          </a:xfrm>
          <a:prstGeom prst="rect">
            <a:avLst/>
          </a:prstGeom>
          <a:noFill/>
        </p:spPr>
        <p:txBody>
          <a:bodyPr wrap="square" rtlCol="0">
            <a:noAutofit/>
          </a:bodyPr>
          <a:lstStyle/>
          <a:p>
            <a:r>
              <a:rPr lang="en-US" altLang="zh-CN" b="1" dirty="0">
                <a:solidFill>
                  <a:srgbClr val="28548E"/>
                </a:solidFill>
                <a:latin typeface="+mj-lt"/>
                <a:sym typeface="+mn-ea"/>
              </a:rPr>
              <a:t>Wei </a:t>
            </a:r>
            <a:r>
              <a:rPr lang="en-US" altLang="zh-CN" b="1" dirty="0" err="1">
                <a:solidFill>
                  <a:srgbClr val="28548E"/>
                </a:solidFill>
                <a:latin typeface="+mj-lt"/>
                <a:sym typeface="+mn-ea"/>
              </a:rPr>
              <a:t>Chuan</a:t>
            </a:r>
            <a:r>
              <a:rPr lang="en-US" altLang="zh-CN" b="1" dirty="0">
                <a:solidFill>
                  <a:srgbClr val="28548E"/>
                </a:solidFill>
                <a:latin typeface="+mj-lt"/>
                <a:sym typeface="+mn-ea"/>
              </a:rPr>
              <a:t> </a:t>
            </a:r>
            <a:r>
              <a:rPr lang="en-US" altLang="en-US" b="1" dirty="0">
                <a:solidFill>
                  <a:srgbClr val="28548E"/>
                </a:solidFill>
                <a:latin typeface="+mj-lt"/>
                <a:sym typeface="+mn-ea"/>
              </a:rPr>
              <a:t>×</a:t>
            </a:r>
            <a:r>
              <a:rPr lang="en-US" altLang="zh-CN" b="1" dirty="0">
                <a:solidFill>
                  <a:srgbClr val="28548E"/>
                </a:solidFill>
                <a:latin typeface="+mj-lt"/>
                <a:sym typeface="+mn-ea"/>
              </a:rPr>
              <a:t> EVOX Comprehensive Budget </a:t>
            </a:r>
            <a:endParaRPr lang="en-US" altLang="zh-CN" b="1" dirty="0">
              <a:solidFill>
                <a:srgbClr val="28548E"/>
              </a:solidFill>
              <a:latin typeface="+mj-lt"/>
              <a:sym typeface="+mn-ea"/>
            </a:endParaRPr>
          </a:p>
          <a:p>
            <a:r>
              <a:rPr lang="en-US" altLang="zh-CN" b="1" dirty="0">
                <a:solidFill>
                  <a:srgbClr val="28548E"/>
                </a:solidFill>
                <a:latin typeface="+mj-lt"/>
                <a:sym typeface="+mn-ea"/>
              </a:rPr>
              <a:t>Management Optimization Project</a:t>
            </a:r>
            <a:endParaRPr lang="en-US" altLang="zh-CN" b="1" dirty="0">
              <a:solidFill>
                <a:srgbClr val="28548E"/>
              </a:solidFill>
              <a:latin typeface="+mj-lt"/>
            </a:endParaRPr>
          </a:p>
          <a:p>
            <a:endParaRPr lang="en-US" altLang="zh-CN" b="1" dirty="0">
              <a:solidFill>
                <a:srgbClr val="28548E"/>
              </a:solidFill>
              <a:latin typeface="+mj-lt"/>
            </a:endParaRPr>
          </a:p>
        </p:txBody>
      </p:sp>
      <p:sp>
        <p:nvSpPr>
          <p:cNvPr id="16" name="文本框 15"/>
          <p:cNvSpPr txBox="1"/>
          <p:nvPr/>
        </p:nvSpPr>
        <p:spPr>
          <a:xfrm>
            <a:off x="4225290" y="970280"/>
            <a:ext cx="2393950" cy="2183765"/>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dirty="0"/>
              <a:t>Established in 2002, Wei </a:t>
            </a:r>
            <a:r>
              <a:rPr lang="en-US" altLang="zh-CN" sz="1200" dirty="0" err="1"/>
              <a:t>Chuan</a:t>
            </a:r>
            <a:r>
              <a:rPr lang="en-US" altLang="zh-CN" sz="1200" dirty="0"/>
              <a:t> Group Foods is a leading Taiwanese dairy firm. Its 2018 revenue topped NT$4 billion, offering hundreds of refrigerated products (lactic acid bacteria drinks, juices, milk) under a "sales-driven, zero-inventory" model with full cold chain for freshness.</a:t>
            </a:r>
            <a:endParaRPr lang="en-US" altLang="zh-CN" sz="1200" dirty="0"/>
          </a:p>
        </p:txBody>
      </p:sp>
      <p:grpSp>
        <p:nvGrpSpPr>
          <p:cNvPr id="6" name="组合 5"/>
          <p:cNvGrpSpPr/>
          <p:nvPr>
            <p:custDataLst>
              <p:tags r:id="rId2"/>
            </p:custDataLst>
          </p:nvPr>
        </p:nvGrpSpPr>
        <p:grpSpPr>
          <a:xfrm>
            <a:off x="538759" y="3267050"/>
            <a:ext cx="6080760" cy="955040"/>
            <a:chOff x="687521" y="2481945"/>
            <a:chExt cx="6080760" cy="955040"/>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060440" cy="70675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Slow budgeting: Next year’s budget takes 2-3 months, highly time-consuming.</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Data asynchronization: Rapid business changes hinder budget-actual comparison.</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Incomplete system: Budget misaligned with strategy, overly finance-focused.</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Heavy workload: Numerous SKUs, complex costs; 130-person team repeats trial calculations.</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72084" y="4426776"/>
            <a:ext cx="6381750" cy="1108710"/>
            <a:chOff x="687521" y="3308283"/>
            <a:chExt cx="6381750" cy="1108710"/>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841" y="3556568"/>
              <a:ext cx="6361430" cy="86042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Flexible production-sales balance: Configurable tables enable "sales-driven production" – no IT reliance.</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SKU-level costing: ABC + system algorithms for granular per-SKU costs.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Process &amp; permission control: Defined roles, standardized workflows; HQ real-time progress tracking.</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Multi-dimensional analysis: Channel/region/SKU drill-down for rapid data retrieval.</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Business-finance integration: Unified platform for real-time data sharing.</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558800" y="6866255"/>
            <a:ext cx="5944870" cy="1463675"/>
            <a:chOff x="752043" y="4134621"/>
            <a:chExt cx="6864291" cy="1362826"/>
          </a:xfrm>
        </p:grpSpPr>
        <p:sp>
          <p:nvSpPr>
            <p:cNvPr id="13" name="文本框 12"/>
            <p:cNvSpPr txBox="1"/>
            <p:nvPr>
              <p:custDataLst>
                <p:tags r:id="rId9"/>
              </p:custDataLst>
            </p:nvPr>
          </p:nvSpPr>
          <p:spPr>
            <a:xfrm>
              <a:off x="863490" y="4134621"/>
              <a:ext cx="4241991" cy="285573"/>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52043" y="4382945"/>
              <a:ext cx="6864291" cy="1114502"/>
            </a:xfrm>
            <a:prstGeom prst="rect">
              <a:avLst/>
            </a:prstGeom>
            <a:noFill/>
          </p:spPr>
          <p:txBody>
            <a:bodyPr wrap="square" rtlCol="0">
              <a:spAutoFit/>
            </a:bodyPr>
            <a:lstStyle/>
            <a:p>
              <a:pPr marL="182245" indent="-171450" algn="just">
                <a:lnSpc>
                  <a:spcPct val="120000"/>
                </a:lnSpc>
                <a:spcBef>
                  <a:spcPts val="0"/>
                </a:spcBef>
                <a:spcAft>
                  <a:spcPts val="0"/>
                </a:spcAft>
                <a:buFont typeface="Arial" panose="020B0604020202020204" pitchFamily="34" charset="0"/>
                <a:buChar char="•"/>
              </a:pPr>
              <a:r>
                <a:rPr lang="en-US" altLang="zh-CN" sz="1200" b="1" u="sng" kern="200" dirty="0">
                  <a:solidFill>
                    <a:srgbClr val="3F3B3A"/>
                  </a:solidFill>
                  <a:latin typeface="Calibri" panose="020F0502020204030204" pitchFamily="34" charset="0"/>
                </a:rPr>
                <a:t>Higher Budgeting Efficiency:</a:t>
              </a:r>
              <a:r>
                <a:rPr lang="en-US" altLang="zh-CN" sz="1200" kern="200" dirty="0">
                  <a:solidFill>
                    <a:srgbClr val="3F3B3A"/>
                  </a:solidFill>
                  <a:latin typeface="Calibri" panose="020F0502020204030204" pitchFamily="34" charset="0"/>
                </a:rPr>
                <a:t> Streamlined processes and unrestricted access cut cycle time.</a:t>
              </a:r>
              <a:endParaRPr lang="en-US" altLang="zh-CN" sz="1200" kern="200" dirty="0">
                <a:solidFill>
                  <a:srgbClr val="3F3B3A"/>
                </a:solidFill>
                <a:latin typeface="Calibri" panose="020F0502020204030204" pitchFamily="34" charset="0"/>
              </a:endParaRPr>
            </a:p>
            <a:p>
              <a:pPr marL="182245" indent="-171450" algn="just">
                <a:lnSpc>
                  <a:spcPct val="120000"/>
                </a:lnSpc>
                <a:spcBef>
                  <a:spcPts val="0"/>
                </a:spcBef>
                <a:spcAft>
                  <a:spcPts val="0"/>
                </a:spcAft>
                <a:buFont typeface="Arial" panose="020B0604020202020204" pitchFamily="34" charset="0"/>
                <a:buChar char="•"/>
              </a:pPr>
              <a:r>
                <a:rPr lang="en-US" altLang="zh-CN" sz="1200" b="1" u="sng" kern="200" dirty="0">
                  <a:solidFill>
                    <a:srgbClr val="3F3B3A"/>
                  </a:solidFill>
                  <a:latin typeface="Calibri" panose="020F0502020204030204" pitchFamily="34" charset="0"/>
                </a:rPr>
                <a:t>Lower Labor Costs:</a:t>
              </a:r>
              <a:r>
                <a:rPr lang="en-US" altLang="zh-CN" sz="1200" kern="200" dirty="0">
                  <a:solidFill>
                    <a:srgbClr val="3F3B3A"/>
                  </a:solidFill>
                  <a:latin typeface="Calibri" panose="020F0502020204030204" pitchFamily="34" charset="0"/>
                </a:rPr>
                <a:t> Automated data integration reduces manual and repetitive work.</a:t>
              </a:r>
              <a:endParaRPr lang="en-US" altLang="zh-CN" sz="1200" kern="200" dirty="0">
                <a:solidFill>
                  <a:srgbClr val="3F3B3A"/>
                </a:solidFill>
                <a:latin typeface="Calibri" panose="020F0502020204030204" pitchFamily="34" charset="0"/>
              </a:endParaRPr>
            </a:p>
            <a:p>
              <a:pPr marL="182245" indent="-171450" algn="just">
                <a:lnSpc>
                  <a:spcPct val="120000"/>
                </a:lnSpc>
                <a:spcBef>
                  <a:spcPts val="0"/>
                </a:spcBef>
                <a:spcAft>
                  <a:spcPts val="0"/>
                </a:spcAft>
                <a:buFont typeface="Arial" panose="020B0604020202020204" pitchFamily="34" charset="0"/>
                <a:buChar char="•"/>
              </a:pPr>
              <a:r>
                <a:rPr lang="en-US" altLang="zh-CN" sz="1200" b="1" u="sng" kern="200" dirty="0">
                  <a:solidFill>
                    <a:srgbClr val="3F3B3A"/>
                  </a:solidFill>
                  <a:latin typeface="Calibri" panose="020F0502020204030204" pitchFamily="34" charset="0"/>
                </a:rPr>
                <a:t>Financial Role Transformation: </a:t>
              </a:r>
              <a:r>
                <a:rPr lang="en-US" altLang="zh-CN" sz="1200" kern="200" dirty="0">
                  <a:solidFill>
                    <a:srgbClr val="3F3B3A"/>
                  </a:solidFill>
                  <a:latin typeface="Calibri" panose="020F0502020204030204" pitchFamily="34" charset="0"/>
                </a:rPr>
                <a:t>Shift from basic tasks to high-value data analysis.</a:t>
              </a:r>
              <a:endParaRPr lang="en-US" altLang="zh-CN" sz="1200" kern="200" dirty="0">
                <a:solidFill>
                  <a:srgbClr val="3F3B3A"/>
                </a:solidFill>
                <a:latin typeface="Calibri" panose="020F0502020204030204" pitchFamily="34" charset="0"/>
              </a:endParaRPr>
            </a:p>
            <a:p>
              <a:pPr marL="182245" indent="-171450" algn="just">
                <a:lnSpc>
                  <a:spcPct val="120000"/>
                </a:lnSpc>
                <a:spcBef>
                  <a:spcPts val="0"/>
                </a:spcBef>
                <a:spcAft>
                  <a:spcPts val="0"/>
                </a:spcAft>
                <a:buFont typeface="Arial" panose="020B0604020202020204" pitchFamily="34" charset="0"/>
                <a:buChar char="•"/>
              </a:pPr>
              <a:r>
                <a:rPr lang="en-US" altLang="zh-CN" sz="1200" b="1" u="sng" kern="200" dirty="0">
                  <a:solidFill>
                    <a:srgbClr val="3F3B3A"/>
                  </a:solidFill>
                  <a:latin typeface="Calibri" panose="020F0502020204030204" pitchFamily="34" charset="0"/>
                </a:rPr>
                <a:t>More Accurate Decision-making: </a:t>
              </a:r>
              <a:r>
                <a:rPr lang="en-US" altLang="zh-CN" sz="1200" kern="200" dirty="0">
                  <a:solidFill>
                    <a:srgbClr val="3F3B3A"/>
                  </a:solidFill>
                  <a:latin typeface="Calibri" panose="020F0502020204030204" pitchFamily="34" charset="0"/>
                </a:rPr>
                <a:t>Multi-dimensional analysis delivers comprehensive business insights and data support.</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538480" y="5297170"/>
            <a:ext cx="5875020" cy="1072515"/>
          </a:xfrm>
          <a:prstGeom prst="rect">
            <a:avLst/>
          </a:prstGeom>
          <a:noFill/>
        </p:spPr>
        <p:txBody>
          <a:bodyPr wrap="square" rtlCol="0">
            <a:no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EVOX breaks business-finance data silos, enables SKU-level granular budget management, resolves issues like lengthy budgeting and data asynchronization via flexible production-sales balance and multi-dimensional analysis, and provides real-time data support for corporate decision-making.</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91490" y="6717665"/>
            <a:ext cx="6080760" cy="1797685"/>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 name="文本框 19"/>
          <p:cNvSpPr txBox="1"/>
          <p:nvPr/>
        </p:nvSpPr>
        <p:spPr>
          <a:xfrm>
            <a:off x="4396105" y="179070"/>
            <a:ext cx="3260090"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Food &amp; Beverage</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pic>
        <p:nvPicPr>
          <p:cNvPr id="17" name="图片 16"/>
          <p:cNvPicPr>
            <a:picLocks noChangeAspect="1"/>
          </p:cNvPicPr>
          <p:nvPr/>
        </p:nvPicPr>
        <p:blipFill>
          <a:blip r:embed="rId12"/>
          <a:stretch>
            <a:fillRect/>
          </a:stretch>
        </p:blipFill>
        <p:spPr>
          <a:xfrm>
            <a:off x="689610" y="1293495"/>
            <a:ext cx="3447415" cy="17195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0"/>
            <a:ext cx="6858635" cy="9906635"/>
          </a:xfrm>
          <a:prstGeom prst="rect">
            <a:avLst/>
          </a:prstGeom>
        </p:spPr>
      </p:pic>
      <p:sp>
        <p:nvSpPr>
          <p:cNvPr id="5" name="文本框 4"/>
          <p:cNvSpPr txBox="1"/>
          <p:nvPr/>
        </p:nvSpPr>
        <p:spPr>
          <a:xfrm>
            <a:off x="471805" y="627380"/>
            <a:ext cx="6669405" cy="525780"/>
          </a:xfrm>
          <a:prstGeom prst="rect">
            <a:avLst/>
          </a:prstGeom>
          <a:noFill/>
        </p:spPr>
        <p:txBody>
          <a:bodyPr wrap="square" rtlCol="0">
            <a:noAutofit/>
          </a:bodyPr>
          <a:lstStyle/>
          <a:p>
            <a:r>
              <a:rPr lang="en-US" altLang="zh-CN" b="1" dirty="0">
                <a:solidFill>
                  <a:srgbClr val="28548E"/>
                </a:solidFill>
                <a:latin typeface="+mj-lt"/>
              </a:rPr>
              <a:t>How EVOX Helped Daiichi Sankyo</a:t>
            </a:r>
            <a:endParaRPr lang="en-US" altLang="zh-CN" b="1" dirty="0">
              <a:solidFill>
                <a:srgbClr val="28548E"/>
              </a:solidFill>
              <a:latin typeface="+mj-lt"/>
            </a:endParaRPr>
          </a:p>
          <a:p>
            <a:r>
              <a:rPr lang="en-US" altLang="zh-CN" sz="1400" b="1" dirty="0">
                <a:solidFill>
                  <a:srgbClr val="28548E"/>
                </a:solidFill>
                <a:latin typeface="+mj-lt"/>
              </a:rPr>
              <a:t>Cut Forecasting Effort by 70% and Save $2.1M</a:t>
            </a:r>
            <a:endParaRPr lang="en-US" altLang="zh-CN" sz="1400" b="1" dirty="0">
              <a:solidFill>
                <a:srgbClr val="28548E"/>
              </a:solidFill>
              <a:latin typeface="+mj-lt"/>
            </a:endParaRPr>
          </a:p>
        </p:txBody>
      </p:sp>
      <p:sp>
        <p:nvSpPr>
          <p:cNvPr id="16" name="文本框 15"/>
          <p:cNvSpPr txBox="1"/>
          <p:nvPr/>
        </p:nvSpPr>
        <p:spPr>
          <a:xfrm>
            <a:off x="4486910" y="1137920"/>
            <a:ext cx="2304415" cy="1999615"/>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Daiichi Sankyo is Japan’s No.2 pharmaceutical company. Its China headquarter in Shanghai oversees 18 subsidiaries and 1,500+ staff, driving innovation in oncology, cardiovascular, and anti-infective therapies as part of its Vision 2030 strategy.</a:t>
            </a:r>
            <a:endParaRPr lang="en-US" altLang="zh-CN" sz="1200"/>
          </a:p>
        </p:txBody>
      </p:sp>
      <p:grpSp>
        <p:nvGrpSpPr>
          <p:cNvPr id="6" name="组合 5"/>
          <p:cNvGrpSpPr/>
          <p:nvPr>
            <p:custDataLst>
              <p:tags r:id="rId2"/>
            </p:custDataLst>
          </p:nvPr>
        </p:nvGrpSpPr>
        <p:grpSpPr>
          <a:xfrm>
            <a:off x="472084" y="3479140"/>
            <a:ext cx="6080760" cy="1108710"/>
            <a:chOff x="687521" y="2481945"/>
            <a:chExt cx="6080760" cy="1108710"/>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060440" cy="86042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Frequent policy shifts and market volatility increased complexity in budgeting and planning.</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Fragmented data led to manual reconciliations, delaying decisions by 30–45 days per quarter.</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Quarterly rolling forecasts required 500+ person-hours monthly, straining R&amp;D focus.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Legacy systems lacked multi-dimensional reporting, making dual compliance costly.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Manual allocation of $150M+ intercompany charges delayed closing across 20+ entities.</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79704" y="4598226"/>
            <a:ext cx="6381750" cy="1263015"/>
            <a:chOff x="687521" y="3308283"/>
            <a:chExt cx="6381750" cy="1263015"/>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841" y="3556568"/>
              <a:ext cx="6361430" cy="1014730"/>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Agile budgeting framework with 12+ scenario models aligned to real-time policy and KPI shifts.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ISO 8000-compliant master data with automated cross-department validation</a:t>
              </a:r>
              <a:endParaRPr lang="en-US" altLang="zh-CN" sz="1000" kern="200" dirty="0">
                <a:solidFill>
                  <a:schemeClr val="tx1"/>
                </a:solidFill>
                <a:latin typeface="Calibri" panose="020F0502020204030204" pitchFamily="34" charset="0"/>
              </a:endParaRPr>
            </a:p>
            <a:p>
              <a:pPr algn="just"/>
              <a:r>
                <a:rPr lang="en-US" altLang="zh-CN" sz="1000" kern="200" dirty="0">
                  <a:solidFill>
                    <a:schemeClr val="tx1"/>
                  </a:solidFill>
                  <a:latin typeface="Calibri" panose="020F0502020204030204" pitchFamily="34" charset="0"/>
                </a:rPr>
                <a:t>- AI-powered forecasting cut quarterly rolling forecast efforts by 70%.</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Self-service multi-dimensional reporting for dual compliance across products, regions, and therapeutic areas.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Automated intercompany reconciliation resolved 95% of disputes pre-close with unified P&amp;L views.</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509723" y="6944360"/>
            <a:ext cx="5939972" cy="1636395"/>
            <a:chOff x="707841" y="4165101"/>
            <a:chExt cx="6858635" cy="1636395"/>
          </a:xfrm>
        </p:grpSpPr>
        <p:sp>
          <p:nvSpPr>
            <p:cNvPr id="13" name="文本框 12"/>
            <p:cNvSpPr txBox="1"/>
            <p:nvPr>
              <p:custDataLst>
                <p:tags r:id="rId9"/>
              </p:custDataLst>
            </p:nvPr>
          </p:nvSpPr>
          <p:spPr>
            <a:xfrm>
              <a:off x="740312" y="4165101"/>
              <a:ext cx="4241991" cy="306705"/>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7841" y="4382906"/>
              <a:ext cx="6858635" cy="1418590"/>
            </a:xfrm>
            <a:prstGeom prst="rect">
              <a:avLst/>
            </a:prstGeom>
            <a:noFill/>
          </p:spPr>
          <p:txBody>
            <a:bodyPr wrap="square" rtlCol="0">
              <a:spAutoFit/>
            </a:bodyPr>
            <a:lstStyle/>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45%:</a:t>
              </a:r>
              <a:r>
                <a:rPr lang="en-US" altLang="zh-CN" sz="1200" kern="200" dirty="0">
                  <a:solidFill>
                    <a:srgbClr val="3F3B3A"/>
                  </a:solidFill>
                  <a:latin typeface="Calibri" panose="020F0502020204030204" pitchFamily="34" charset="0"/>
                </a:rPr>
                <a:t> Faster budget cycles enabled rapid responses to NMPA regulatory changes.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u="sng" kern="200" dirty="0">
                  <a:solidFill>
                    <a:srgbClr val="3F3B3A"/>
                  </a:solidFill>
                  <a:latin typeface="Calibri" panose="020F0502020204030204" pitchFamily="34" charset="0"/>
                </a:rPr>
                <a:t>99.2%: </a:t>
              </a:r>
              <a:r>
                <a:rPr lang="en-US" altLang="zh-CN" sz="1200" kern="200" dirty="0">
                  <a:solidFill>
                    <a:srgbClr val="3F3B3A"/>
                  </a:solidFill>
                  <a:latin typeface="Calibri" panose="020F0502020204030204" pitchFamily="34" charset="0"/>
                </a:rPr>
                <a:t>Data accuracy achieved across financial statements through automation     and controls.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$2.1M: </a:t>
              </a:r>
              <a:r>
                <a:rPr lang="en-US" altLang="zh-CN" sz="1200" kern="200" dirty="0">
                  <a:solidFill>
                    <a:srgbClr val="3F3B3A"/>
                  </a:solidFill>
                  <a:latin typeface="Calibri" panose="020F0502020204030204" pitchFamily="34" charset="0"/>
                </a:rPr>
                <a:t>Annual savings from reduced manual reconciliation and reporting efforts.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360</a:t>
              </a:r>
              <a:r>
                <a:rPr lang="en-US" altLang="en-US" sz="1200" b="1" i="1" u="sng" kern="200" dirty="0">
                  <a:solidFill>
                    <a:srgbClr val="3F3B3A"/>
                  </a:solidFill>
                  <a:latin typeface="Calibri" panose="020F0502020204030204" pitchFamily="34" charset="0"/>
                </a:rPr>
                <a:t>°</a:t>
              </a:r>
              <a:r>
                <a:rPr lang="en-US" sz="1200" b="1" i="1" u="sng" kern="200" dirty="0">
                  <a:solidFill>
                    <a:srgbClr val="3F3B3A"/>
                  </a:solidFill>
                  <a:latin typeface="Calibri" panose="020F0502020204030204" pitchFamily="34" charset="0"/>
                </a:rPr>
                <a:t>:</a:t>
              </a:r>
              <a:r>
                <a:rPr lang="en-US" sz="1200" b="1" i="1"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Profitability insights enabled 15% oncology portfolio optimization.</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30% Faster</a:t>
              </a:r>
              <a:r>
                <a:rPr lang="en-US" altLang="zh-CN" sz="1200" kern="200" dirty="0">
                  <a:solidFill>
                    <a:srgbClr val="3F3B3A"/>
                  </a:solidFill>
                  <a:latin typeface="Calibri" panose="020F0502020204030204" pitchFamily="34" charset="0"/>
                </a:rPr>
                <a:t>: Month-end close cycle, ensuring timely compliance with CSRC and J-GAAP.</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471805" y="5624195"/>
            <a:ext cx="5875020" cy="1245235"/>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EVOX enabled Daiichi Sankyo China to overcome data fragmentation, regulatory complexity, and resource-heavy processes. By integrating predictive analytics, automated reconciliations, and scenario planning, the platform helped unify finance operations across 18 subsidiaries, reduce risks, and unlock greater agility to support the company’s growth in China’s $140B oncology market.</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71805" y="6928485"/>
            <a:ext cx="5977890" cy="1926590"/>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 name="图片 2" descr="图片1"/>
          <p:cNvPicPr>
            <a:picLocks noChangeAspect="1"/>
          </p:cNvPicPr>
          <p:nvPr/>
        </p:nvPicPr>
        <p:blipFill>
          <a:blip r:embed="rId12"/>
          <a:srcRect l="11484" t="15222" r="4157" b="19655"/>
          <a:stretch>
            <a:fillRect/>
          </a:stretch>
        </p:blipFill>
        <p:spPr>
          <a:xfrm>
            <a:off x="509905" y="1373505"/>
            <a:ext cx="3977005" cy="2019300"/>
          </a:xfrm>
          <a:prstGeom prst="rect">
            <a:avLst/>
          </a:prstGeom>
        </p:spPr>
      </p:pic>
      <p:sp>
        <p:nvSpPr>
          <p:cNvPr id="17" name="文本框 16"/>
          <p:cNvSpPr txBox="1"/>
          <p:nvPr/>
        </p:nvSpPr>
        <p:spPr>
          <a:xfrm>
            <a:off x="4075430" y="179070"/>
            <a:ext cx="2589530"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Pharmaceutical</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538480" y="612140"/>
            <a:ext cx="5810885" cy="525780"/>
          </a:xfrm>
          <a:prstGeom prst="rect">
            <a:avLst/>
          </a:prstGeom>
          <a:noFill/>
        </p:spPr>
        <p:txBody>
          <a:bodyPr wrap="square" rtlCol="0">
            <a:noAutofit/>
          </a:bodyPr>
          <a:lstStyle/>
          <a:p>
            <a:r>
              <a:rPr lang="en-US" altLang="zh-CN" b="1" dirty="0">
                <a:solidFill>
                  <a:srgbClr val="28548E"/>
                </a:solidFill>
                <a:latin typeface="+mj-lt"/>
              </a:rPr>
              <a:t>Chery’s Success with EVOX SPM: </a:t>
            </a:r>
            <a:endParaRPr lang="en-US" altLang="zh-CN" b="1" dirty="0">
              <a:solidFill>
                <a:srgbClr val="28548E"/>
              </a:solidFill>
              <a:latin typeface="+mj-lt"/>
            </a:endParaRPr>
          </a:p>
          <a:p>
            <a:r>
              <a:rPr lang="en-US" altLang="zh-CN" sz="1400" b="1" dirty="0">
                <a:solidFill>
                  <a:srgbClr val="28548E"/>
                </a:solidFill>
                <a:latin typeface="+mj-lt"/>
                <a:sym typeface="+mn-ea"/>
              </a:rPr>
              <a:t>Revolutionizing Automotive Incentive Management: </a:t>
            </a:r>
            <a:endParaRPr lang="en-US" altLang="zh-CN" sz="1400" b="1" dirty="0">
              <a:solidFill>
                <a:srgbClr val="28548E"/>
              </a:solidFill>
              <a:latin typeface="+mj-lt"/>
              <a:sym typeface="+mn-ea"/>
            </a:endParaRPr>
          </a:p>
        </p:txBody>
      </p:sp>
      <p:sp>
        <p:nvSpPr>
          <p:cNvPr id="16" name="文本框 15"/>
          <p:cNvSpPr txBox="1"/>
          <p:nvPr/>
        </p:nvSpPr>
        <p:spPr>
          <a:xfrm>
            <a:off x="4359910" y="1061720"/>
            <a:ext cx="2304415" cy="2183765"/>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As a leader in the automotive sector, Chery Automobile continues to drive innovation and operational excellence. Its new sales rebate program strengthens dealer partnerships and supports long-term growth amid rising competition.</a:t>
            </a:r>
            <a:endParaRPr lang="en-US" altLang="zh-CN" sz="1200"/>
          </a:p>
        </p:txBody>
      </p:sp>
      <p:grpSp>
        <p:nvGrpSpPr>
          <p:cNvPr id="6" name="组合 5"/>
          <p:cNvGrpSpPr/>
          <p:nvPr>
            <p:custDataLst>
              <p:tags r:id="rId2"/>
            </p:custDataLst>
          </p:nvPr>
        </p:nvGrpSpPr>
        <p:grpSpPr>
          <a:xfrm>
            <a:off x="492404" y="3267050"/>
            <a:ext cx="6080760" cy="1263015"/>
            <a:chOff x="687521" y="2481945"/>
            <a:chExt cx="6080760" cy="1263015"/>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060440" cy="1014730"/>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Over 10 million data points and RMB 1B+ fund flows created major processing complexity.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Multi-brand, multi-policy structures made rebate management rigid and error-prone.</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Manual workflows introduced audit risks and delayed operations.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Fragmented approvals led to bottlenecks and slow decision-making.</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Fragmented approvals led to bottlenecks and slow decision-making.</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Limited analytics capabilities blocked data-driven growth opportunities.</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72084" y="4547426"/>
            <a:ext cx="6381750" cy="1263015"/>
            <a:chOff x="687521" y="3308283"/>
            <a:chExt cx="6381750" cy="1263015"/>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841" y="3556568"/>
              <a:ext cx="6361430" cy="1014730"/>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Tiered policy templates enabled fast, scalable rebate configuration across brands and regions.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Centralized data warehouse delivered real-time insights and trusted governance.</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T+1 automated settlement mechanism accelerated fund turnover and efficiency.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End-to-end digitalization replaced manual tasks with fully automated, auditable workflows.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AI-driven analytics enabled deep visibility into sales, inventory, and incentive impact.</a:t>
              </a:r>
              <a:endParaRPr lang="en-US" altLang="zh-CN" sz="1000" kern="200" dirty="0">
                <a:solidFill>
                  <a:schemeClr val="tx1"/>
                </a:solidFill>
                <a:latin typeface="Calibri" panose="020F0502020204030204" pitchFamily="34" charset="0"/>
              </a:endParaRPr>
            </a:p>
            <a:p>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489585" y="6556375"/>
            <a:ext cx="6362065" cy="1666875"/>
            <a:chOff x="708051" y="4134621"/>
            <a:chExt cx="7346009" cy="1666875"/>
          </a:xfrm>
        </p:grpSpPr>
        <p:sp>
          <p:nvSpPr>
            <p:cNvPr id="13" name="文本框 12"/>
            <p:cNvSpPr txBox="1"/>
            <p:nvPr>
              <p:custDataLst>
                <p:tags r:id="rId9"/>
              </p:custDataLst>
            </p:nvPr>
          </p:nvSpPr>
          <p:spPr>
            <a:xfrm>
              <a:off x="804834" y="4134621"/>
              <a:ext cx="4241991" cy="306705"/>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8051" y="4382906"/>
              <a:ext cx="7346009" cy="1418590"/>
            </a:xfrm>
            <a:prstGeom prst="rect">
              <a:avLst/>
            </a:prstGeom>
            <a:noFill/>
          </p:spPr>
          <p:txBody>
            <a:bodyPr wrap="square" rtlCol="0">
              <a:spAutoFit/>
            </a:bodyPr>
            <a:lstStyle/>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94% Faster Rebate Processing:</a:t>
              </a:r>
              <a:r>
                <a:rPr lang="en-US" altLang="zh-CN" sz="1200" kern="200" dirty="0">
                  <a:solidFill>
                    <a:srgbClr val="3F3B3A"/>
                  </a:solidFill>
                  <a:latin typeface="Calibri" panose="020F0502020204030204" pitchFamily="34" charset="0"/>
                </a:rPr>
                <a:t> accelerated end-to-end rebate cycle times through streamlined digital workflows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360</a:t>
              </a:r>
              <a:r>
                <a:rPr lang="en-US" altLang="en-US" sz="1200" b="1" i="1" u="sng" kern="200" dirty="0">
                  <a:solidFill>
                    <a:srgbClr val="3F3B3A"/>
                  </a:solidFill>
                  <a:latin typeface="Calibri" panose="020F0502020204030204" pitchFamily="34" charset="0"/>
                </a:rPr>
                <a:t>°</a:t>
              </a:r>
              <a:r>
                <a:rPr lang="en-US" altLang="zh-CN" sz="1200" b="1" i="1" u="sng" kern="200" dirty="0">
                  <a:solidFill>
                    <a:srgbClr val="3F3B3A"/>
                  </a:solidFill>
                  <a:latin typeface="Calibri" panose="020F0502020204030204" pitchFamily="34" charset="0"/>
                </a:rPr>
                <a:t> Dealer Visibility:</a:t>
              </a:r>
              <a:r>
                <a:rPr lang="en-US" altLang="zh-CN" sz="1200" kern="200" dirty="0">
                  <a:solidFill>
                    <a:srgbClr val="3F3B3A"/>
                  </a:solidFill>
                  <a:latin typeface="Calibri" panose="020F0502020204030204" pitchFamily="34" charset="0"/>
                </a:rPr>
                <a:t> Real-time rebate tracking portal reduced disputes by 65%</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30%: </a:t>
              </a:r>
              <a:r>
                <a:rPr lang="en-US" altLang="zh-CN" sz="1200" b="1"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Efficiency improvement in working capital</a:t>
              </a:r>
              <a:endParaRPr lang="en-US" altLang="zh-CN" sz="1200" b="1"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50+ KPIs at a Glance:</a:t>
              </a:r>
              <a:r>
                <a:rPr lang="en-US" altLang="zh-CN" sz="1200" kern="200" dirty="0">
                  <a:solidFill>
                    <a:srgbClr val="3F3B3A"/>
                  </a:solidFill>
                  <a:latin typeface="Calibri" panose="020F0502020204030204" pitchFamily="34" charset="0"/>
                </a:rPr>
                <a:t> The platform centralized critical data, enabling smarter, </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kern="200" dirty="0">
                  <a:solidFill>
                    <a:srgbClr val="3F3B3A"/>
                  </a:solidFill>
                  <a:latin typeface="Calibri" panose="020F0502020204030204" pitchFamily="34" charset="0"/>
                </a:rPr>
                <a:t>data-driven business decisions.</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489585" y="5392420"/>
            <a:ext cx="5875020" cy="937260"/>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EVOX enabled Chery to transform its sales rebate program from a fragmented, manual process into a real-time, intelligent engine for growth. </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71805" y="6482715"/>
            <a:ext cx="6100445" cy="2025650"/>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 name="图片 2" descr="奇瑞汽车"/>
          <p:cNvPicPr>
            <a:picLocks noChangeAspect="1"/>
          </p:cNvPicPr>
          <p:nvPr/>
        </p:nvPicPr>
        <p:blipFill>
          <a:blip r:embed="rId12"/>
          <a:srcRect l="3585" r="4155"/>
          <a:stretch>
            <a:fillRect/>
          </a:stretch>
        </p:blipFill>
        <p:spPr>
          <a:xfrm>
            <a:off x="652145" y="1313180"/>
            <a:ext cx="3595370" cy="1804035"/>
          </a:xfrm>
          <a:prstGeom prst="rect">
            <a:avLst/>
          </a:prstGeom>
        </p:spPr>
      </p:pic>
      <p:sp>
        <p:nvSpPr>
          <p:cNvPr id="19" name="文本框 18"/>
          <p:cNvSpPr txBox="1"/>
          <p:nvPr/>
        </p:nvSpPr>
        <p:spPr>
          <a:xfrm>
            <a:off x="4866469" y="179070"/>
            <a:ext cx="1935652"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Auto &amp; Parts</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538480" y="612140"/>
            <a:ext cx="6252845" cy="525780"/>
          </a:xfrm>
          <a:prstGeom prst="rect">
            <a:avLst/>
          </a:prstGeom>
          <a:noFill/>
        </p:spPr>
        <p:txBody>
          <a:bodyPr wrap="square" rtlCol="0">
            <a:noAutofit/>
          </a:bodyPr>
          <a:lstStyle/>
          <a:p>
            <a:r>
              <a:rPr lang="en-US" altLang="zh-CN" b="1" dirty="0">
                <a:solidFill>
                  <a:srgbClr val="28548E"/>
                </a:solidFill>
                <a:latin typeface="+mj-lt"/>
              </a:rPr>
              <a:t>Ningbo Huaxiang: </a:t>
            </a:r>
            <a:endParaRPr lang="en-US" altLang="zh-CN" b="1" dirty="0">
              <a:solidFill>
                <a:srgbClr val="28548E"/>
              </a:solidFill>
              <a:latin typeface="+mj-lt"/>
            </a:endParaRPr>
          </a:p>
          <a:p>
            <a:r>
              <a:rPr lang="en-US" altLang="zh-CN" sz="1400" b="1" dirty="0">
                <a:solidFill>
                  <a:srgbClr val="28548E"/>
                </a:solidFill>
                <a:latin typeface="+mj-lt"/>
              </a:rPr>
              <a:t>Accelerating Budget Digitalization with EVOX</a:t>
            </a:r>
            <a:endParaRPr lang="en-US" altLang="zh-CN" sz="1400" b="1" dirty="0">
              <a:solidFill>
                <a:srgbClr val="28548E"/>
              </a:solidFill>
              <a:latin typeface="+mj-lt"/>
            </a:endParaRPr>
          </a:p>
        </p:txBody>
      </p:sp>
      <p:sp>
        <p:nvSpPr>
          <p:cNvPr id="16" name="文本框 15"/>
          <p:cNvSpPr txBox="1"/>
          <p:nvPr/>
        </p:nvSpPr>
        <p:spPr>
          <a:xfrm>
            <a:off x="4200525" y="1075690"/>
            <a:ext cx="2371090" cy="1892935"/>
          </a:xfrm>
          <a:prstGeom prst="rect">
            <a:avLst/>
          </a:prstGeom>
          <a:noFill/>
        </p:spPr>
        <p:txBody>
          <a:bodyPr wrap="square" rtlCol="0">
            <a:no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Ningbo Huaxiang is a large manufacturing group with over RMB 30 billion in annual revenue, 70+ subsidiaries, and a product matrix of over 200,000 SKUs across automotive parts, electronics, and new materials. </a:t>
            </a:r>
            <a:endParaRPr lang="en-US" altLang="zh-CN" sz="1200"/>
          </a:p>
        </p:txBody>
      </p:sp>
      <p:grpSp>
        <p:nvGrpSpPr>
          <p:cNvPr id="6" name="组合 5"/>
          <p:cNvGrpSpPr/>
          <p:nvPr>
            <p:custDataLst>
              <p:tags r:id="rId2"/>
            </p:custDataLst>
          </p:nvPr>
        </p:nvGrpSpPr>
        <p:grpSpPr>
          <a:xfrm>
            <a:off x="492404" y="2982570"/>
            <a:ext cx="6080760" cy="1263015"/>
            <a:chOff x="687521" y="2481945"/>
            <a:chExt cx="6080760" cy="1263015"/>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060440" cy="1014730"/>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The group operated multiple systems (SAP, Yongyou, etc.), leading to fragmented data and inconsistent standards, making budgeting inefficient and cumbersome. </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Excel and email-based collaboration were error-prone, version control poor, permission management weak, and traceability difficult. </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The finance team took an average of two days to handle budgeting for a single subsidiary, severely hampering decision-making speed.</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72084" y="4228656"/>
            <a:ext cx="6101080" cy="1263015"/>
            <a:chOff x="687521" y="3308283"/>
            <a:chExt cx="6101080" cy="1263015"/>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841" y="3556568"/>
              <a:ext cx="6080760" cy="1014730"/>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EVOX automated data extraction, cleansing, and unified storage across systems, eliminating data silos. </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A 3D modeling engine spanned strategy, operations, and finance, enabling intelligent budgeting. </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A centralized data dictionary, automated validation rules, and permission partitioning ensured standardization and secure workflows. </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Machine learning and a visual management cockpit enhanced forecasting accuracy and enabled real-time decision support.</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441960" y="6426835"/>
            <a:ext cx="6030595" cy="2127885"/>
            <a:chOff x="708051" y="4134621"/>
            <a:chExt cx="6963274" cy="1981272"/>
          </a:xfrm>
        </p:grpSpPr>
        <p:sp>
          <p:nvSpPr>
            <p:cNvPr id="13" name="文本框 12"/>
            <p:cNvSpPr txBox="1"/>
            <p:nvPr>
              <p:custDataLst>
                <p:tags r:id="rId9"/>
              </p:custDataLst>
            </p:nvPr>
          </p:nvSpPr>
          <p:spPr>
            <a:xfrm>
              <a:off x="804834" y="4134621"/>
              <a:ext cx="4241991" cy="285573"/>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8051" y="4382945"/>
              <a:ext cx="6963274" cy="1732948"/>
            </a:xfrm>
            <a:prstGeom prst="rect">
              <a:avLst/>
            </a:prstGeom>
            <a:noFill/>
          </p:spPr>
          <p:txBody>
            <a:bodyPr wrap="square" rtlCol="0">
              <a:spAutoFit/>
            </a:bodyPr>
            <a:lstStyle/>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80% Efficiency Boost:</a:t>
              </a:r>
              <a:r>
                <a:rPr lang="en-US" altLang="zh-CN" sz="1200" kern="200" dirty="0">
                  <a:solidFill>
                    <a:srgbClr val="3F3B3A"/>
                  </a:solidFill>
                  <a:latin typeface="Calibri" panose="020F0502020204030204" pitchFamily="34" charset="0"/>
                </a:rPr>
                <a:t> Budget cycle shortened from 2 days </a:t>
              </a:r>
              <a:r>
                <a:rPr lang="en-US" altLang="en-US" sz="1200" kern="200" dirty="0">
                  <a:solidFill>
                    <a:srgbClr val="3F3B3A"/>
                  </a:solidFill>
                  <a:latin typeface="Calibri" panose="020F0502020204030204" pitchFamily="34" charset="0"/>
                </a:rPr>
                <a:t>→</a:t>
              </a:r>
              <a:r>
                <a:rPr lang="en-US" altLang="zh-CN" sz="1200" kern="200" dirty="0">
                  <a:solidFill>
                    <a:srgbClr val="3F3B3A"/>
                  </a:solidFill>
                  <a:latin typeface="Calibri" panose="020F0502020204030204" pitchFamily="34" charset="0"/>
                </a:rPr>
                <a:t> 0.4 days.</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65% Reduction:</a:t>
              </a:r>
              <a:r>
                <a:rPr lang="en-US" altLang="zh-CN" sz="1200" kern="200" dirty="0">
                  <a:solidFill>
                    <a:srgbClr val="3F3B3A"/>
                  </a:solidFill>
                  <a:latin typeface="Calibri" panose="020F0502020204030204" pitchFamily="34" charset="0"/>
                </a:rPr>
                <a:t> Overall finance workload significantly decreased.</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83% Faster Reporting:</a:t>
              </a:r>
              <a:r>
                <a:rPr lang="en-US" altLang="zh-CN" sz="1200" kern="200" dirty="0">
                  <a:solidFill>
                    <a:srgbClr val="3F3B3A"/>
                  </a:solidFill>
                  <a:latin typeface="Calibri" panose="020F0502020204030204" pitchFamily="34" charset="0"/>
                </a:rPr>
                <a:t> Decision reporting accelerated, driving 40% stronger market response agility.</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91% Data Integration:</a:t>
              </a:r>
              <a:r>
                <a:rPr lang="en-US" altLang="zh-CN" sz="1200" kern="200" dirty="0">
                  <a:solidFill>
                    <a:srgbClr val="3F3B3A"/>
                  </a:solidFill>
                  <a:latin typeface="Calibri" panose="020F0502020204030204" pitchFamily="34" charset="0"/>
                </a:rPr>
                <a:t> Business-finance integration improved from 58% </a:t>
              </a:r>
              <a:r>
                <a:rPr lang="en-US" altLang="en-US" sz="1200" kern="200" dirty="0">
                  <a:solidFill>
                    <a:srgbClr val="3F3B3A"/>
                  </a:solidFill>
                  <a:latin typeface="Calibri" panose="020F0502020204030204" pitchFamily="34" charset="0"/>
                </a:rPr>
                <a:t>→</a:t>
              </a:r>
              <a:r>
                <a:rPr lang="en-US" altLang="zh-CN" sz="1200" kern="200" dirty="0">
                  <a:solidFill>
                    <a:srgbClr val="3F3B3A"/>
                  </a:solidFill>
                  <a:latin typeface="Calibri" panose="020F0502020204030204" pitchFamily="34" charset="0"/>
                </a:rPr>
                <a:t> 91%, with 98% cost tracking accuracy.</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en-US" sz="1200" b="1" i="1" u="sng" kern="200" dirty="0">
                  <a:solidFill>
                    <a:srgbClr val="3F3B3A"/>
                  </a:solidFill>
                  <a:latin typeface="Calibri" panose="020F0502020204030204" pitchFamily="34" charset="0"/>
                </a:rPr>
                <a:t>±</a:t>
              </a:r>
              <a:r>
                <a:rPr lang="en-US" altLang="zh-CN" sz="1200" b="1" i="1" u="sng" kern="200" dirty="0">
                  <a:solidFill>
                    <a:srgbClr val="3F3B3A"/>
                  </a:solidFill>
                  <a:latin typeface="Calibri" panose="020F0502020204030204" pitchFamily="34" charset="0"/>
                </a:rPr>
                <a:t>3% Forecast Deviation:</a:t>
              </a:r>
              <a:r>
                <a:rPr lang="en-US" altLang="zh-CN" sz="1200" kern="200" dirty="0">
                  <a:solidFill>
                    <a:srgbClr val="3F3B3A"/>
                  </a:solidFill>
                  <a:latin typeface="Calibri" panose="020F0502020204030204" pitchFamily="34" charset="0"/>
                </a:rPr>
                <a:t> Strategic alignment reached 89%, achieving a closed-loop budget management cycle.</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471805" y="5194300"/>
            <a:ext cx="5875020" cy="1091565"/>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EVOX’s comprehensive budgeting solution, featuring 3D modeling, intelligent validation, and a visual cockpit, effectively addressed Huaxiang’s pain points of inefficient budgeting, fragmented data, and slow decision-making, empowering rapid digitalization of budgeting and strategic execution.</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41960" y="6339205"/>
            <a:ext cx="6130290" cy="2499360"/>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9" name="图片 18" descr="/Users/mac/Library/Containers/com.kingsoft.wpsoffice.mac/Data/tmp/picturecompress_20250821143800/output_1.pngoutput_1"/>
          <p:cNvPicPr>
            <a:picLocks noChangeAspect="1"/>
          </p:cNvPicPr>
          <p:nvPr/>
        </p:nvPicPr>
        <p:blipFill>
          <a:blip r:embed="rId12"/>
          <a:srcRect t="20456" r="65"/>
          <a:stretch>
            <a:fillRect/>
          </a:stretch>
        </p:blipFill>
        <p:spPr>
          <a:xfrm>
            <a:off x="650875" y="1384935"/>
            <a:ext cx="3422015" cy="1572260"/>
          </a:xfrm>
          <a:prstGeom prst="rect">
            <a:avLst/>
          </a:prstGeom>
        </p:spPr>
      </p:pic>
      <p:sp>
        <p:nvSpPr>
          <p:cNvPr id="21" name="文本框 18"/>
          <p:cNvSpPr txBox="1"/>
          <p:nvPr/>
        </p:nvSpPr>
        <p:spPr>
          <a:xfrm>
            <a:off x="4866469" y="179070"/>
            <a:ext cx="1935652"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Auto &amp; Parts</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509905" y="612140"/>
            <a:ext cx="5810885" cy="525780"/>
          </a:xfrm>
          <a:prstGeom prst="rect">
            <a:avLst/>
          </a:prstGeom>
          <a:noFill/>
        </p:spPr>
        <p:txBody>
          <a:bodyPr wrap="square" rtlCol="0">
            <a:noAutofit/>
          </a:bodyPr>
          <a:lstStyle/>
          <a:p>
            <a:r>
              <a:rPr lang="en-US" altLang="zh-CN" b="1" dirty="0">
                <a:solidFill>
                  <a:srgbClr val="28548E"/>
                </a:solidFill>
                <a:latin typeface="+mj-lt"/>
                <a:sym typeface="+mn-ea"/>
              </a:rPr>
              <a:t>Jinjiang GPP Boosts Efficiency with EVOX:</a:t>
            </a:r>
            <a:endParaRPr lang="en-US" altLang="zh-CN" b="1" dirty="0">
              <a:solidFill>
                <a:srgbClr val="28548E"/>
              </a:solidFill>
              <a:latin typeface="+mj-lt"/>
            </a:endParaRPr>
          </a:p>
          <a:p>
            <a:r>
              <a:rPr lang="en-US" altLang="zh-CN" sz="1400" b="1" dirty="0">
                <a:solidFill>
                  <a:srgbClr val="28548E"/>
                </a:solidFill>
                <a:latin typeface="+mj-lt"/>
              </a:rPr>
              <a:t>From Manual Chaos to Automated Precision</a:t>
            </a:r>
            <a:endParaRPr lang="en-US" altLang="zh-CN" sz="1400" b="1" dirty="0">
              <a:solidFill>
                <a:srgbClr val="28548E"/>
              </a:solidFill>
              <a:latin typeface="+mj-lt"/>
            </a:endParaRPr>
          </a:p>
        </p:txBody>
      </p:sp>
      <p:sp>
        <p:nvSpPr>
          <p:cNvPr id="16" name="文本框 15"/>
          <p:cNvSpPr txBox="1"/>
          <p:nvPr/>
        </p:nvSpPr>
        <p:spPr>
          <a:xfrm>
            <a:off x="4398645" y="1137920"/>
            <a:ext cx="2123440" cy="1999615"/>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Jin Jiang International (Holdings) Co., Ltd. is a Asia leading tourism and hospitality company, managing 382 hotels and resorts in 10 countries in North America, Europe and Asia.</a:t>
            </a:r>
            <a:endParaRPr lang="en-US" altLang="zh-CN" sz="1200"/>
          </a:p>
        </p:txBody>
      </p:sp>
      <p:grpSp>
        <p:nvGrpSpPr>
          <p:cNvPr id="6" name="组合 5"/>
          <p:cNvGrpSpPr/>
          <p:nvPr>
            <p:custDataLst>
              <p:tags r:id="rId2"/>
            </p:custDataLst>
          </p:nvPr>
        </p:nvGrpSpPr>
        <p:grpSpPr>
          <a:xfrm>
            <a:off x="492404" y="3267050"/>
            <a:ext cx="6080760" cy="955040"/>
            <a:chOff x="687521" y="2481945"/>
            <a:chExt cx="6080760" cy="955040"/>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060440" cy="70675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Policy updates were slow and inflexible, requiring IT support and delaying responsiveness.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Manual commission calculations led to frequent errors and unreliable financial data.</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Lack of audit trails in adjustments exposed the business to compliance risks.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Manual reconciliation processes caused long billing cycles and strained cash flow.</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92404" y="4260406"/>
            <a:ext cx="6381750" cy="1108710"/>
            <a:chOff x="687521" y="3308283"/>
            <a:chExt cx="6381750" cy="1108710"/>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841" y="3556568"/>
              <a:ext cx="6361430" cy="86042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Intelligent policy builder enables fast, no-code configuration with full audit traceability.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Automated engine handles complex rebate logic and special contract conditions seamlessly.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Real-time dashboards give suppliers clear visibility into commissions, payments, and disputes.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AI-powered reconciliation reduces billing errors and speeds up cash collection.</a:t>
              </a:r>
              <a:endParaRPr lang="en-US" altLang="zh-CN" sz="1000" kern="200" dirty="0">
                <a:solidFill>
                  <a:schemeClr val="tx1"/>
                </a:solidFill>
                <a:latin typeface="Calibri" panose="020F0502020204030204" pitchFamily="34" charset="0"/>
              </a:endParaRPr>
            </a:p>
            <a:p>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489585" y="6556375"/>
            <a:ext cx="6757035" cy="1445260"/>
            <a:chOff x="708051" y="4134621"/>
            <a:chExt cx="7802064" cy="1445260"/>
          </a:xfrm>
        </p:grpSpPr>
        <p:sp>
          <p:nvSpPr>
            <p:cNvPr id="13" name="文本框 12"/>
            <p:cNvSpPr txBox="1"/>
            <p:nvPr>
              <p:custDataLst>
                <p:tags r:id="rId9"/>
              </p:custDataLst>
            </p:nvPr>
          </p:nvSpPr>
          <p:spPr>
            <a:xfrm>
              <a:off x="804834" y="4134621"/>
              <a:ext cx="4241991" cy="306705"/>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8051" y="4382906"/>
              <a:ext cx="7802064" cy="1196975"/>
            </a:xfrm>
            <a:prstGeom prst="rect">
              <a:avLst/>
            </a:prstGeom>
            <a:noFill/>
          </p:spPr>
          <p:txBody>
            <a:bodyPr wrap="square" rtlCol="0">
              <a:spAutoFit/>
            </a:bodyPr>
            <a:lstStyle/>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98% Policy Configuration Agility</a:t>
              </a:r>
              <a:r>
                <a:rPr lang="en-US" altLang="zh-CN" sz="1200" b="1" i="1" kern="200" dirty="0">
                  <a:solidFill>
                    <a:srgbClr val="3F3B3A"/>
                  </a:solidFill>
                  <a:latin typeface="Calibri" panose="020F0502020204030204" pitchFamily="34" charset="0"/>
                </a:rPr>
                <a:t>:</a:t>
              </a:r>
              <a:r>
                <a:rPr lang="en-US" altLang="zh-CN" sz="1200" kern="200" dirty="0">
                  <a:solidFill>
                    <a:srgbClr val="3F3B3A"/>
                  </a:solidFill>
                  <a:latin typeface="Calibri" panose="020F0502020204030204" pitchFamily="34" charset="0"/>
                </a:rPr>
                <a:t> Educed setup time from 5 days to just 4 hours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89% Reduction in Billing Errors:</a:t>
              </a:r>
              <a:r>
                <a:rPr lang="en-US" altLang="zh-CN" sz="1200" b="1"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Achieved through AI-powered cash application</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40% Faster Collections:</a:t>
              </a:r>
              <a:r>
                <a:rPr lang="en-US" altLang="zh-CN" sz="1200" b="1"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Driven by automated reconciliation workflows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23% Fewer Commission Errors:</a:t>
              </a:r>
              <a:r>
                <a:rPr lang="en-US" altLang="zh-CN" sz="1200" b="1"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By eliminating manual calculations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Billing Cycle Shortened from 15 Days:</a:t>
              </a:r>
              <a:r>
                <a:rPr lang="en-US" altLang="zh-CN" sz="1200" kern="200" dirty="0">
                  <a:solidFill>
                    <a:srgbClr val="3F3B3A"/>
                  </a:solidFill>
                  <a:latin typeface="Calibri" panose="020F0502020204030204" pitchFamily="34" charset="0"/>
                </a:rPr>
                <a:t> Improving cash flow and supplier satisfaction</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512445" y="4967605"/>
            <a:ext cx="5875020" cy="1398905"/>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EVOX enabled Jinjiang GPP to eliminate manual bottlenecks, reduce compliance risks, and streamline complex commission structures across 2,000+ suppliers. By introducing no-code policy configuration, ERP-integrated automation, and real-time supplier portals, the platform helped accelerate billing cycles, enhance financial transparency, and establish a scalable foundation for digital procurement excellence in China’s multi-billion-dollar hospitality industry.</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71805" y="6480175"/>
            <a:ext cx="6100445" cy="1742440"/>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7" name="图片 16" descr="aHR0cHM6Ly93d3cuZXZveHBsYXRmb3JtLmNvbS9xZnktY29udGVudC91cGxvYWRzLzIwMjUvMDUvNzAwNjA3ZDgzMjc4MGIwNTU4MmExODMzOWE3MjhmOTUtOTAud2VicA_p_p100_p_3D_p_p100_p_3D"/>
          <p:cNvPicPr>
            <a:picLocks noChangeAspect="1"/>
          </p:cNvPicPr>
          <p:nvPr/>
        </p:nvPicPr>
        <p:blipFill>
          <a:blip r:embed="rId12"/>
          <a:srcRect l="11478"/>
          <a:stretch>
            <a:fillRect/>
          </a:stretch>
        </p:blipFill>
        <p:spPr>
          <a:xfrm>
            <a:off x="573405" y="1317625"/>
            <a:ext cx="3674110" cy="1927225"/>
          </a:xfrm>
          <a:prstGeom prst="rect">
            <a:avLst/>
          </a:prstGeom>
        </p:spPr>
      </p:pic>
      <p:sp>
        <p:nvSpPr>
          <p:cNvPr id="19" name="文本框 18"/>
          <p:cNvSpPr txBox="1"/>
          <p:nvPr/>
        </p:nvSpPr>
        <p:spPr>
          <a:xfrm>
            <a:off x="4612640" y="167005"/>
            <a:ext cx="1959610"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Real Estate </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471805" y="612140"/>
            <a:ext cx="5810885" cy="525780"/>
          </a:xfrm>
          <a:prstGeom prst="rect">
            <a:avLst/>
          </a:prstGeom>
          <a:noFill/>
        </p:spPr>
        <p:txBody>
          <a:bodyPr wrap="square" rtlCol="0">
            <a:noAutofit/>
          </a:bodyPr>
          <a:lstStyle/>
          <a:p>
            <a:r>
              <a:rPr lang="en-US" altLang="zh-CN" b="1" dirty="0">
                <a:solidFill>
                  <a:srgbClr val="28548E"/>
                </a:solidFill>
                <a:latin typeface="+mj-lt"/>
              </a:rPr>
              <a:t>Accelerating Financial Close and Compliance: </a:t>
            </a:r>
            <a:endParaRPr lang="en-US" altLang="zh-CN" b="1" dirty="0">
              <a:solidFill>
                <a:srgbClr val="28548E"/>
              </a:solidFill>
              <a:latin typeface="+mj-lt"/>
            </a:endParaRPr>
          </a:p>
          <a:p>
            <a:r>
              <a:rPr lang="en-US" altLang="zh-CN" sz="1400" b="1" dirty="0">
                <a:solidFill>
                  <a:srgbClr val="28548E"/>
                </a:solidFill>
                <a:latin typeface="+mj-lt"/>
              </a:rPr>
              <a:t>How Bank of Shanghai Leads with EVOX</a:t>
            </a:r>
            <a:endParaRPr lang="en-US" altLang="zh-CN" sz="1400" b="1" dirty="0">
              <a:solidFill>
                <a:srgbClr val="28548E"/>
              </a:solidFill>
              <a:latin typeface="+mj-lt"/>
            </a:endParaRPr>
          </a:p>
        </p:txBody>
      </p:sp>
      <p:sp>
        <p:nvSpPr>
          <p:cNvPr id="16" name="文本框 15"/>
          <p:cNvSpPr txBox="1"/>
          <p:nvPr/>
        </p:nvSpPr>
        <p:spPr>
          <a:xfrm>
            <a:off x="4229735" y="1079500"/>
            <a:ext cx="2343150" cy="2553335"/>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Bank of Shanghai is a trusted premier bank focused on service excellence and fintech innovation. In response to 2023 regulatory guidelines, it is modernizing legacy systems to boost agility, ensure compliance, and enhance strategic decision-making.</a:t>
            </a:r>
            <a:endParaRPr lang="en-US" altLang="zh-CN" sz="1200"/>
          </a:p>
          <a:p>
            <a:endParaRPr lang="en-US" altLang="zh-CN" sz="1200"/>
          </a:p>
          <a:p>
            <a:endParaRPr lang="en-US" altLang="zh-CN" sz="1200"/>
          </a:p>
        </p:txBody>
      </p:sp>
      <p:grpSp>
        <p:nvGrpSpPr>
          <p:cNvPr id="6" name="组合 5"/>
          <p:cNvGrpSpPr/>
          <p:nvPr>
            <p:custDataLst>
              <p:tags r:id="rId2"/>
            </p:custDataLst>
          </p:nvPr>
        </p:nvGrpSpPr>
        <p:grpSpPr>
          <a:xfrm>
            <a:off x="492404" y="3457550"/>
            <a:ext cx="6080760" cy="801370"/>
            <a:chOff x="687521" y="2481945"/>
            <a:chExt cx="6080760" cy="801370"/>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060440" cy="55308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Disconnected workflows delayed financial close and increased compliance risk.</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Inconsistent reporting across entities compromised data accuracy and integrity.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Legacy tools lacked scalability to support rapid growth and regulatory demands.</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62559" y="4355021"/>
            <a:ext cx="6381750" cy="801370"/>
            <a:chOff x="687521" y="3308283"/>
            <a:chExt cx="6381750" cy="801370"/>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841" y="3556568"/>
              <a:ext cx="6361430" cy="55308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Automated multi-level aggregation and intercompany reconciliation.</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Standardized reporting frameworks aligned all entities under unified governance.</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Real-time performance dashboards enabled “one-click” consolidated statements and faster decisions.</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482600" y="6409690"/>
            <a:ext cx="6858635" cy="1725295"/>
            <a:chOff x="720516" y="4134621"/>
            <a:chExt cx="7919377" cy="1725295"/>
          </a:xfrm>
        </p:grpSpPr>
        <p:sp>
          <p:nvSpPr>
            <p:cNvPr id="13" name="文本框 12"/>
            <p:cNvSpPr txBox="1"/>
            <p:nvPr>
              <p:custDataLst>
                <p:tags r:id="rId9"/>
              </p:custDataLst>
            </p:nvPr>
          </p:nvSpPr>
          <p:spPr>
            <a:xfrm>
              <a:off x="804834" y="4134621"/>
              <a:ext cx="4241991" cy="306705"/>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20516" y="4441326"/>
              <a:ext cx="7919377" cy="1418590"/>
            </a:xfrm>
            <a:prstGeom prst="rect">
              <a:avLst/>
            </a:prstGeom>
            <a:noFill/>
          </p:spPr>
          <p:txBody>
            <a:bodyPr wrap="square" rtlCol="0">
              <a:spAutoFit/>
            </a:bodyPr>
            <a:lstStyle/>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30%+ Faster Close:</a:t>
              </a:r>
              <a:r>
                <a:rPr lang="en-US" altLang="zh-CN" sz="1200" b="1"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Driven by fully digitized consolidation workflows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Real-time Group-level Reporting:</a:t>
              </a:r>
              <a:r>
                <a:rPr lang="en-US" altLang="zh-CN" sz="1200" b="1"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Enabled by one-click consolidated statements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Unified GAAP/IFRS Compliance:</a:t>
              </a:r>
              <a:r>
                <a:rPr lang="en-US" altLang="zh-CN" sz="1200" kern="200" dirty="0">
                  <a:solidFill>
                    <a:srgbClr val="3F3B3A"/>
                  </a:solidFill>
                  <a:latin typeface="Calibri" panose="020F0502020204030204" pitchFamily="34" charset="0"/>
                </a:rPr>
                <a:t>  Through redesigned dimensional hierarchies and </a:t>
              </a:r>
              <a:endParaRPr lang="en-US" altLang="zh-CN" sz="1200" kern="200" dirty="0">
                <a:solidFill>
                  <a:srgbClr val="3F3B3A"/>
                </a:solidFill>
                <a:latin typeface="Calibri" panose="020F0502020204030204" pitchFamily="34" charset="0"/>
              </a:endParaRPr>
            </a:p>
            <a:p>
              <a:pPr indent="0">
                <a:lnSpc>
                  <a:spcPct val="120000"/>
                </a:lnSpc>
                <a:spcBef>
                  <a:spcPts val="0"/>
                </a:spcBef>
                <a:spcAft>
                  <a:spcPts val="0"/>
                </a:spcAft>
                <a:buFont typeface="Arial" panose="020B0604020202020204" pitchFamily="34" charset="0"/>
                <a:buNone/>
              </a:pPr>
              <a:r>
                <a:rPr lang="en-US" altLang="zh-CN" sz="1200" kern="200" dirty="0">
                  <a:solidFill>
                    <a:srgbClr val="3F3B3A"/>
                  </a:solidFill>
                  <a:latin typeface="Calibri" panose="020F0502020204030204" pitchFamily="34" charset="0"/>
                </a:rPr>
                <a:t>    disclosure models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Embedded Audit Trails:</a:t>
              </a:r>
              <a:r>
                <a:rPr lang="en-US" altLang="zh-CN" sz="1200" kern="200" dirty="0">
                  <a:solidFill>
                    <a:srgbClr val="3F3B3A"/>
                  </a:solidFill>
                  <a:latin typeface="Calibri" panose="020F0502020204030204" pitchFamily="34" charset="0"/>
                </a:rPr>
                <a:t> Ensured traceability and full regulatory alignment</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Instant Statutory and Management Views:</a:t>
              </a:r>
              <a:r>
                <a:rPr lang="en-US" altLang="zh-CN" sz="1200" i="1" u="sng"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 WiIth a single reporting architecture</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482600" y="4945380"/>
            <a:ext cx="5875020" cy="1245235"/>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EVOX enabled Bank of Shanghai to move beyond fragmented, manual reporting and build a unified, intelligent financial architecture. With built-in auditability, scalable reporting frameworks, and AI-driven analytics, EVOX Consolidation positioned the bank for regulatory agility, faster close cycles, and insight-driven group leadership—ushering in a new era of digital finance. </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62915" y="6345555"/>
            <a:ext cx="6109335" cy="2340610"/>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7" name="图片 16" descr="上海银行"/>
          <p:cNvPicPr>
            <a:picLocks noChangeAspect="1"/>
          </p:cNvPicPr>
          <p:nvPr/>
        </p:nvPicPr>
        <p:blipFill>
          <a:blip r:embed="rId12"/>
          <a:stretch>
            <a:fillRect/>
          </a:stretch>
        </p:blipFill>
        <p:spPr>
          <a:xfrm>
            <a:off x="573405" y="1318895"/>
            <a:ext cx="3503930" cy="1941830"/>
          </a:xfrm>
          <a:prstGeom prst="rect">
            <a:avLst/>
          </a:prstGeom>
        </p:spPr>
      </p:pic>
      <p:sp>
        <p:nvSpPr>
          <p:cNvPr id="20" name="文本框 19"/>
          <p:cNvSpPr txBox="1"/>
          <p:nvPr/>
        </p:nvSpPr>
        <p:spPr>
          <a:xfrm>
            <a:off x="4825365" y="179070"/>
            <a:ext cx="1746885"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Banking</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S</a:t>
            </a:r>
            <a:endParaRPr lang="en-US" altLang="zh-CN"/>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538480" y="612140"/>
            <a:ext cx="6252845" cy="525780"/>
          </a:xfrm>
          <a:prstGeom prst="rect">
            <a:avLst/>
          </a:prstGeom>
          <a:noFill/>
        </p:spPr>
        <p:txBody>
          <a:bodyPr wrap="square" rtlCol="0">
            <a:noAutofit/>
          </a:bodyPr>
          <a:lstStyle/>
          <a:p>
            <a:r>
              <a:rPr lang="en-US" altLang="zh-CN" b="1" dirty="0">
                <a:solidFill>
                  <a:srgbClr val="28548E"/>
                </a:solidFill>
                <a:latin typeface="+mj-lt"/>
              </a:rPr>
              <a:t>EVOX Empowers Ping An Bank: </a:t>
            </a:r>
            <a:endParaRPr lang="en-US" altLang="zh-CN" b="1" dirty="0">
              <a:solidFill>
                <a:srgbClr val="28548E"/>
              </a:solidFill>
              <a:latin typeface="+mj-lt"/>
            </a:endParaRPr>
          </a:p>
          <a:p>
            <a:r>
              <a:rPr lang="en-US" altLang="zh-CN" sz="1400" b="1" dirty="0">
                <a:solidFill>
                  <a:srgbClr val="28548E"/>
                </a:solidFill>
                <a:latin typeface="+mj-lt"/>
              </a:rPr>
              <a:t>Enhancing Budget Efficiency and Strategic Alignment</a:t>
            </a:r>
            <a:endParaRPr lang="en-US" altLang="zh-CN" sz="1400" b="1" dirty="0">
              <a:solidFill>
                <a:srgbClr val="28548E"/>
              </a:solidFill>
              <a:latin typeface="+mj-lt"/>
            </a:endParaRPr>
          </a:p>
        </p:txBody>
      </p:sp>
      <p:sp>
        <p:nvSpPr>
          <p:cNvPr id="16" name="文本框 15"/>
          <p:cNvSpPr txBox="1"/>
          <p:nvPr/>
        </p:nvSpPr>
        <p:spPr>
          <a:xfrm>
            <a:off x="4060825" y="1103630"/>
            <a:ext cx="2511425" cy="1999615"/>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Founded in 1987 (Shenzhen HQ), Ping An Bank is a joint-stock commercial bank with nearly RMB 5 trillion in assets and over RMB 150 billion in annual revenue. Evolving markets and regulations raised its demands for budgeting, forecasting, and data management.</a:t>
            </a:r>
            <a:endParaRPr lang="en-US" altLang="zh-CN" sz="1200"/>
          </a:p>
        </p:txBody>
      </p:sp>
      <p:grpSp>
        <p:nvGrpSpPr>
          <p:cNvPr id="6" name="组合 5"/>
          <p:cNvGrpSpPr/>
          <p:nvPr>
            <p:custDataLst>
              <p:tags r:id="rId2"/>
            </p:custDataLst>
          </p:nvPr>
        </p:nvGrpSpPr>
        <p:grpSpPr>
          <a:xfrm>
            <a:off x="492404" y="2950185"/>
            <a:ext cx="6366510" cy="1108710"/>
            <a:chOff x="687521" y="2481945"/>
            <a:chExt cx="6366510" cy="1108710"/>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346190" cy="86042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Traditional branch-by-branch reporting resulted in low data granularity and inefficiency.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Data collection relied on manual inputs, Excel, and email, leading to poor accuracy and weak </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traceability.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Long budgeting and forecasting cycles delayed strategy execution and decision-making.</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Increasing regulatory and disclosure requirements made budgeting and reporting more complex.</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71805" y="4066540"/>
            <a:ext cx="6154420" cy="1263015"/>
            <a:chOff x="687521" y="3308283"/>
            <a:chExt cx="6256657" cy="1263015"/>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533" y="3556568"/>
              <a:ext cx="6236645" cy="1014730"/>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Established a unified budgeting, forecasting, and reporting framework across headquarters and branches, enabling real-time data collection and sharing.</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Applied intelligent forecasting models covering revenue, cost, risk, and non-interest income.</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Built a centralized reporting platform to support multi-version and multi-scenario budgeting and rolling forecasts.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Implemented data quality monitoring and validation mechanisms to ensure accuracy and compliance.</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441960" y="6541135"/>
            <a:ext cx="6030595" cy="1906270"/>
            <a:chOff x="708051" y="4134621"/>
            <a:chExt cx="6963274" cy="1774926"/>
          </a:xfrm>
        </p:grpSpPr>
        <p:sp>
          <p:nvSpPr>
            <p:cNvPr id="13" name="文本框 12"/>
            <p:cNvSpPr txBox="1"/>
            <p:nvPr>
              <p:custDataLst>
                <p:tags r:id="rId9"/>
              </p:custDataLst>
            </p:nvPr>
          </p:nvSpPr>
          <p:spPr>
            <a:xfrm>
              <a:off x="804834" y="4134621"/>
              <a:ext cx="4241991" cy="285573"/>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8051" y="4382945"/>
              <a:ext cx="6963274" cy="1526602"/>
            </a:xfrm>
            <a:prstGeom prst="rect">
              <a:avLst/>
            </a:prstGeom>
            <a:noFill/>
          </p:spPr>
          <p:txBody>
            <a:bodyPr wrap="square" rtlCol="0">
              <a:spAutoFit/>
            </a:bodyPr>
            <a:lstStyle/>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50% Reporting Efficiency Gain: </a:t>
              </a:r>
              <a:r>
                <a:rPr lang="en-US" altLang="zh-CN" sz="1200" kern="200" dirty="0">
                  <a:solidFill>
                    <a:srgbClr val="3F3B3A"/>
                  </a:solidFill>
                  <a:latin typeface="Calibri" panose="020F0502020204030204" pitchFamily="34" charset="0"/>
                </a:rPr>
                <a:t>Streamlined processes for faster insights.</a:t>
              </a:r>
              <a:endParaRPr lang="en-US" altLang="zh-CN" sz="1200" b="1" i="1" u="sng"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Smart Forecasting: </a:t>
              </a:r>
              <a:r>
                <a:rPr lang="en-US" altLang="zh-CN" sz="1200" kern="200" dirty="0">
                  <a:solidFill>
                    <a:srgbClr val="3F3B3A"/>
                  </a:solidFill>
                  <a:latin typeface="Calibri" panose="020F0502020204030204" pitchFamily="34" charset="0"/>
                </a:rPr>
                <a:t>AI-based models enabled non-interest income prediction, greatly improving accuracy.</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Business Value Creation:</a:t>
              </a:r>
              <a:r>
                <a:rPr lang="en-US" altLang="zh-CN" sz="1200" kern="200" dirty="0">
                  <a:solidFill>
                    <a:srgbClr val="3F3B3A"/>
                  </a:solidFill>
                  <a:latin typeface="Calibri" panose="020F0502020204030204" pitchFamily="34" charset="0"/>
                </a:rPr>
                <a:t> Built an end-to-end budgeting and forecasting system, enabling faster responses to market and regulatory changes.</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Compliance Assurance:</a:t>
              </a:r>
              <a:r>
                <a:rPr lang="en-US" altLang="zh-CN" sz="1200" kern="200" dirty="0">
                  <a:solidFill>
                    <a:srgbClr val="3F3B3A"/>
                  </a:solidFill>
                  <a:latin typeface="Calibri" panose="020F0502020204030204" pitchFamily="34" charset="0"/>
                </a:rPr>
                <a:t> End-to-end data traceability ensured strict compliance with regulatory and audit requirements.</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471805" y="5075555"/>
            <a:ext cx="5875020" cy="1245235"/>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Ping An Bank chose EVOX for its proven expertise in the financial sector, flexible and scalable modeling capabilities, and end-to-end digital support. EVOX not only met the bank’s needs for refined budgeting and forecasting but also ensured efficiency and transparency under complex compliance and regulatory requirements.</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36880" y="6478270"/>
            <a:ext cx="6135370" cy="2159635"/>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 name="图片 2"/>
          <p:cNvPicPr>
            <a:picLocks noChangeAspect="1"/>
          </p:cNvPicPr>
          <p:nvPr/>
        </p:nvPicPr>
        <p:blipFill>
          <a:blip r:embed="rId12"/>
          <a:srcRect l="7010" t="9691" r="8543" b="4479"/>
          <a:stretch>
            <a:fillRect/>
          </a:stretch>
        </p:blipFill>
        <p:spPr>
          <a:xfrm>
            <a:off x="618490" y="1354455"/>
            <a:ext cx="3113405" cy="1588770"/>
          </a:xfrm>
          <a:prstGeom prst="rect">
            <a:avLst/>
          </a:prstGeom>
        </p:spPr>
      </p:pic>
      <p:sp>
        <p:nvSpPr>
          <p:cNvPr id="20" name="文本框 19"/>
          <p:cNvSpPr txBox="1"/>
          <p:nvPr/>
        </p:nvSpPr>
        <p:spPr>
          <a:xfrm>
            <a:off x="4846320" y="179070"/>
            <a:ext cx="1818640"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Banking</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560705" y="612140"/>
            <a:ext cx="5810885" cy="525780"/>
          </a:xfrm>
          <a:prstGeom prst="rect">
            <a:avLst/>
          </a:prstGeom>
          <a:noFill/>
        </p:spPr>
        <p:txBody>
          <a:bodyPr wrap="square" rtlCol="0">
            <a:noAutofit/>
          </a:bodyPr>
          <a:lstStyle/>
          <a:p>
            <a:r>
              <a:rPr lang="en-US" altLang="zh-CN" b="1" dirty="0">
                <a:solidFill>
                  <a:srgbClr val="28548E"/>
                </a:solidFill>
                <a:latin typeface="+mj-lt"/>
              </a:rPr>
              <a:t>Nongfu Spring:</a:t>
            </a:r>
            <a:endParaRPr lang="en-US" altLang="zh-CN" b="1" dirty="0">
              <a:solidFill>
                <a:srgbClr val="28548E"/>
              </a:solidFill>
              <a:latin typeface="+mj-lt"/>
            </a:endParaRPr>
          </a:p>
          <a:p>
            <a:r>
              <a:rPr lang="en-US" altLang="zh-CN" sz="1400" b="1" dirty="0">
                <a:solidFill>
                  <a:srgbClr val="28548E"/>
                </a:solidFill>
                <a:latin typeface="+mj-lt"/>
              </a:rPr>
              <a:t>Achieving FP&amp;A Excellence in FMGC with EVOX</a:t>
            </a:r>
            <a:endParaRPr lang="en-US" altLang="zh-CN" sz="1400" b="1" dirty="0">
              <a:solidFill>
                <a:srgbClr val="28548E"/>
              </a:solidFill>
              <a:latin typeface="+mj-lt"/>
            </a:endParaRPr>
          </a:p>
        </p:txBody>
      </p:sp>
      <p:sp>
        <p:nvSpPr>
          <p:cNvPr id="16" name="文本框 15"/>
          <p:cNvSpPr txBox="1"/>
          <p:nvPr/>
        </p:nvSpPr>
        <p:spPr>
          <a:xfrm>
            <a:off x="4142740" y="1163955"/>
            <a:ext cx="2429510" cy="1722120"/>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100"/>
              <a:t>A leading player in the beverages Fast-Moving Consumer Goods (FMCG) industry. Operates with a complex production management model, </a:t>
            </a:r>
            <a:r>
              <a:rPr lang="en-US" altLang="zh-CN" sz="1200"/>
              <a:t>involving </a:t>
            </a:r>
            <a:r>
              <a:rPr lang="en-US" altLang="zh-CN" sz="1100"/>
              <a:t>1000 users and nearly a thousand products/raw materials.</a:t>
            </a:r>
            <a:endParaRPr lang="en-US" altLang="zh-CN" sz="1100"/>
          </a:p>
        </p:txBody>
      </p:sp>
      <p:grpSp>
        <p:nvGrpSpPr>
          <p:cNvPr id="6" name="组合 5"/>
          <p:cNvGrpSpPr/>
          <p:nvPr>
            <p:custDataLst>
              <p:tags r:id="rId2"/>
            </p:custDataLst>
          </p:nvPr>
        </p:nvGrpSpPr>
        <p:grpSpPr>
          <a:xfrm>
            <a:off x="492404" y="3029560"/>
            <a:ext cx="6080760" cy="1570355"/>
            <a:chOff x="687521" y="2481945"/>
            <a:chExt cx="6080760" cy="1570355"/>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060440" cy="1322070"/>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Error-Prone &amp; Lacking Granularity: Manual compilation caused errors and limited multi-dimensional analysis.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High Workload &amp; Inefficiency: Repetitive manual aggregationunder tight deadlines reduced efficiency.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Lack of Real-time Monitoring: Complex, bottom-up processes made tracking and reminders impossible.</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Data Discrepancies: Inconsistencies existed between business and financial data.</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Manual Production Costing: Key production costs relied on manual entry, lacking automation and standardization.</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72084" y="4629976"/>
            <a:ext cx="6381750" cy="1878330"/>
            <a:chOff x="687521" y="3308283"/>
            <a:chExt cx="6381750" cy="1878330"/>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841" y="3556568"/>
              <a:ext cx="6361430" cy="163004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Integrated Budget Models: Covers sales, production, procurement, inventory, headcount, costs, taxes, and financial statements.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Automated Costing: Calculates energy and raw material costs and allocates equipment expenses automatically, replacing manual entry.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Streamlined Budgeting &amp; Forecasting: Online submission with automated calculations and rolling forecast generation improves efficiency.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Seamless Integration: Connects with SAP, CRM, Procurement, Expense Control, OA, and Enterprise WeChat to enable budget vs. actual analysis and execution tracking.</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Automated Workflow: Streamlines budget submission, approval, and reporting, with final data automatically consolidated into financial and analysis reports.</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497205" y="6671310"/>
            <a:ext cx="6192520" cy="2109470"/>
            <a:chOff x="708051" y="4134621"/>
            <a:chExt cx="7150242" cy="2109470"/>
          </a:xfrm>
        </p:grpSpPr>
        <p:sp>
          <p:nvSpPr>
            <p:cNvPr id="13" name="文本框 12"/>
            <p:cNvSpPr txBox="1"/>
            <p:nvPr>
              <p:custDataLst>
                <p:tags r:id="rId9"/>
              </p:custDataLst>
            </p:nvPr>
          </p:nvSpPr>
          <p:spPr>
            <a:xfrm>
              <a:off x="804834" y="4134621"/>
              <a:ext cx="4241991" cy="306705"/>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8051" y="4382906"/>
              <a:ext cx="7150242" cy="1861185"/>
            </a:xfrm>
            <a:prstGeom prst="rect">
              <a:avLst/>
            </a:prstGeom>
            <a:noFill/>
          </p:spPr>
          <p:txBody>
            <a:bodyPr wrap="square" rtlCol="0">
              <a:spAutoFit/>
            </a:bodyPr>
            <a:lstStyle/>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From 2 Months to 3 W</a:t>
              </a:r>
              <a:r>
                <a:rPr lang="en-US" altLang="zh-CN" sz="1200" b="1" i="1" u="sng" kern="200" dirty="0">
                  <a:solidFill>
                    <a:srgbClr val="3F3B3A"/>
                  </a:solidFill>
                  <a:latin typeface="Calibri" panose="020F0502020204030204" pitchFamily="34" charset="0"/>
                </a:rPr>
                <a:t>eeks: </a:t>
              </a:r>
              <a:r>
                <a:rPr lang="en-US" altLang="zh-CN" sz="1200" kern="200" dirty="0">
                  <a:solidFill>
                    <a:srgbClr val="3F3B3A"/>
                  </a:solidFill>
                  <a:latin typeface="Calibri" panose="020F0502020204030204" pitchFamily="34" charset="0"/>
                </a:rPr>
                <a:t>Automated calculations replaced manual work, boosting accuracy and efficiency.</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Granularity Beyond Excel:</a:t>
              </a:r>
              <a:r>
                <a:rPr lang="en-US" altLang="zh-CN" sz="1200" kern="200" dirty="0">
                  <a:solidFill>
                    <a:srgbClr val="3F3B3A"/>
                  </a:solidFill>
                  <a:latin typeface="Calibri" panose="020F0502020204030204" pitchFamily="34" charset="0"/>
                </a:rPr>
                <a:t> Company-wide participation with detail down to customer, SKU, product, channel, and sales office.</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Multi-Dimensional Insights:</a:t>
              </a:r>
              <a:r>
                <a:rPr lang="en-US" altLang="zh-CN" sz="1200" kern="200" dirty="0">
                  <a:solidFill>
                    <a:srgbClr val="3F3B3A"/>
                  </a:solidFill>
                  <a:latin typeface="Calibri" panose="020F0502020204030204" pitchFamily="34" charset="0"/>
                </a:rPr>
                <a:t> Income statements by product, category, channel, and region.</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Closed-Loop Integration:</a:t>
              </a:r>
              <a:r>
                <a:rPr lang="en-US" altLang="zh-CN" sz="1200" kern="200" dirty="0">
                  <a:solidFill>
                    <a:srgbClr val="3F3B3A"/>
                  </a:solidFill>
                  <a:latin typeface="Calibri" panose="020F0502020204030204" pitchFamily="34" charset="0"/>
                </a:rPr>
                <a:t> Linked with SAP &amp; other systems, driving continuous business optimization.</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endParaRPr lang="en-US" altLang="zh-CN" sz="1200" kern="200" dirty="0">
                <a:solidFill>
                  <a:srgbClr val="3F3B3A"/>
                </a:solidFill>
                <a:latin typeface="Calibri" panose="020F0502020204030204" pitchFamily="34" charset="0"/>
              </a:endParaRPr>
            </a:p>
          </p:txBody>
        </p:sp>
      </p:grpSp>
      <p:sp>
        <p:nvSpPr>
          <p:cNvPr id="18" name="圆角矩形 17"/>
          <p:cNvSpPr/>
          <p:nvPr/>
        </p:nvSpPr>
        <p:spPr>
          <a:xfrm>
            <a:off x="471170" y="6660515"/>
            <a:ext cx="6101080" cy="2168525"/>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9" name="图片 18" descr="截屏2025-08-04 16.26.20"/>
          <p:cNvPicPr>
            <a:picLocks noChangeAspect="1"/>
          </p:cNvPicPr>
          <p:nvPr/>
        </p:nvPicPr>
        <p:blipFill>
          <a:blip r:embed="rId11"/>
          <a:stretch>
            <a:fillRect/>
          </a:stretch>
        </p:blipFill>
        <p:spPr>
          <a:xfrm>
            <a:off x="581025" y="1327785"/>
            <a:ext cx="3479800" cy="1644650"/>
          </a:xfrm>
          <a:prstGeom prst="rect">
            <a:avLst/>
          </a:prstGeom>
        </p:spPr>
      </p:pic>
      <p:sp>
        <p:nvSpPr>
          <p:cNvPr id="20" name="文本框 19"/>
          <p:cNvSpPr txBox="1"/>
          <p:nvPr/>
        </p:nvSpPr>
        <p:spPr>
          <a:xfrm>
            <a:off x="4060825" y="179070"/>
            <a:ext cx="3260090"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Food &amp; Beverage</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471805" y="612140"/>
            <a:ext cx="5810885" cy="525780"/>
          </a:xfrm>
          <a:prstGeom prst="rect">
            <a:avLst/>
          </a:prstGeom>
          <a:noFill/>
        </p:spPr>
        <p:txBody>
          <a:bodyPr wrap="square" rtlCol="0">
            <a:noAutofit/>
          </a:bodyPr>
          <a:lstStyle/>
          <a:p>
            <a:r>
              <a:rPr lang="en-US" altLang="zh-CN" b="1" dirty="0">
                <a:solidFill>
                  <a:srgbClr val="28548E"/>
                </a:solidFill>
                <a:latin typeface="+mj-lt"/>
                <a:sym typeface="+mn-ea"/>
              </a:rPr>
              <a:t>Master Kong’s Comprehensive Budgeting Transformation Journey</a:t>
            </a:r>
            <a:endParaRPr lang="zh-CN" altLang="zh-CN" dirty="0">
              <a:solidFill>
                <a:srgbClr val="28548E"/>
              </a:solidFill>
              <a:latin typeface="+mj-lt"/>
            </a:endParaRPr>
          </a:p>
          <a:p>
            <a:endParaRPr lang="en-US" altLang="zh-CN" b="1" dirty="0">
              <a:solidFill>
                <a:srgbClr val="28548E"/>
              </a:solidFill>
              <a:latin typeface="+mj-lt"/>
            </a:endParaRPr>
          </a:p>
        </p:txBody>
      </p:sp>
      <p:sp>
        <p:nvSpPr>
          <p:cNvPr id="16" name="文本框 15"/>
          <p:cNvSpPr txBox="1"/>
          <p:nvPr/>
        </p:nvSpPr>
        <p:spPr>
          <a:xfrm>
            <a:off x="4220845" y="973455"/>
            <a:ext cx="2351405" cy="2738120"/>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Master Kong Beverage, a major arm of Master Kong Holdings, operates 100+ legal entities and 2,000+ sales units across 6,000+ nationwide channels. As the business scaled, growing complexity made it increasingly difficult to maintain efficient, accurate, and centralized budget control.</a:t>
            </a:r>
            <a:endParaRPr lang="en-US" altLang="zh-CN" sz="1200"/>
          </a:p>
          <a:p>
            <a:endParaRPr lang="en-US" altLang="zh-CN" sz="1200"/>
          </a:p>
          <a:p>
            <a:endParaRPr lang="en-US" altLang="zh-CN" sz="1200"/>
          </a:p>
        </p:txBody>
      </p:sp>
      <p:grpSp>
        <p:nvGrpSpPr>
          <p:cNvPr id="6" name="组合 5"/>
          <p:cNvGrpSpPr/>
          <p:nvPr>
            <p:custDataLst>
              <p:tags r:id="rId2"/>
            </p:custDataLst>
          </p:nvPr>
        </p:nvGrpSpPr>
        <p:grpSpPr>
          <a:xfrm>
            <a:off x="463829" y="3409925"/>
            <a:ext cx="6080760" cy="955040"/>
            <a:chOff x="687521" y="2481945"/>
            <a:chExt cx="6080760" cy="955040"/>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060440" cy="70675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sym typeface="+mn-ea"/>
                </a:rPr>
                <a:t>- Complex, manual budgeting across 6,000+ SKUs and 10 billion+ records.</a:t>
              </a:r>
              <a:endParaRPr lang="zh-CN"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sym typeface="+mn-ea"/>
                </a:rPr>
                <a:t>- Time-consuming annual planning and consolidation cycles.</a:t>
              </a:r>
              <a:endParaRPr lang="zh-CN"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sym typeface="+mn-ea"/>
                </a:rPr>
                <a:t>- Lack of scenario modeling and centralized data governance.</a:t>
              </a:r>
              <a:endParaRPr lang="zh-CN" altLang="zh-CN" sz="1000" kern="200" dirty="0">
                <a:solidFill>
                  <a:schemeClr val="tx1"/>
                </a:solidFill>
                <a:latin typeface="Calibri" panose="020F0502020204030204" pitchFamily="34" charset="0"/>
              </a:endParaRPr>
            </a:p>
            <a:p>
              <a:endParaRPr lang="zh-CN"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42239" y="4316921"/>
            <a:ext cx="6381750" cy="955040"/>
            <a:chOff x="687521" y="3308283"/>
            <a:chExt cx="6381750" cy="955040"/>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841" y="3556568"/>
              <a:ext cx="6361430" cy="70675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sym typeface="+mn-ea"/>
                </a:rPr>
                <a:t>- 3-Year Scenario Forecasting &amp; Rolling Forecasts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sym typeface="+mn-ea"/>
                </a:rPr>
                <a:t>- Multi-Dimensional Budget Analytics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sym typeface="+mn-ea"/>
                </a:rPr>
                <a:t>- Seamless integration with SAP and real-time data sources</a:t>
              </a:r>
              <a:endParaRPr lang="en-US" altLang="zh-CN" sz="1000" kern="200" dirty="0">
                <a:solidFill>
                  <a:schemeClr val="tx1"/>
                </a:solidFill>
                <a:latin typeface="Calibri" panose="020F0502020204030204" pitchFamily="34" charset="0"/>
              </a:endParaRPr>
            </a:p>
            <a:p>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502920" y="6205855"/>
            <a:ext cx="6858635" cy="1666875"/>
            <a:chOff x="708051" y="4134621"/>
            <a:chExt cx="7919377" cy="1666875"/>
          </a:xfrm>
        </p:grpSpPr>
        <p:sp>
          <p:nvSpPr>
            <p:cNvPr id="13" name="文本框 12"/>
            <p:cNvSpPr txBox="1"/>
            <p:nvPr>
              <p:custDataLst>
                <p:tags r:id="rId9"/>
              </p:custDataLst>
            </p:nvPr>
          </p:nvSpPr>
          <p:spPr>
            <a:xfrm>
              <a:off x="804834" y="4134621"/>
              <a:ext cx="4241991" cy="306705"/>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8051" y="4382906"/>
              <a:ext cx="7919377" cy="1418590"/>
            </a:xfrm>
            <a:prstGeom prst="rect">
              <a:avLst/>
            </a:prstGeom>
            <a:noFill/>
          </p:spPr>
          <p:txBody>
            <a:bodyPr wrap="square" rtlCol="0">
              <a:spAutoFit/>
            </a:bodyPr>
            <a:lstStyle/>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chemeClr val="tx1"/>
                  </a:solidFill>
                  <a:latin typeface="Calibri" panose="020F0502020204030204" pitchFamily="34" charset="0"/>
                </a:rPr>
                <a:t>Budget Cycle Reduced from 1 Month to under 1 Week:</a:t>
              </a:r>
              <a:r>
                <a:rPr lang="en-US" altLang="zh-CN" sz="1200" kern="200" dirty="0">
                  <a:solidFill>
                    <a:schemeClr val="tx1"/>
                  </a:solidFill>
                  <a:latin typeface="Calibri" panose="020F0502020204030204" pitchFamily="34" charset="0"/>
                </a:rPr>
                <a:t> accelerating planning </a:t>
              </a:r>
              <a:endParaRPr lang="en-US" altLang="zh-CN" sz="1200" kern="200" dirty="0">
                <a:solidFill>
                  <a:schemeClr val="tx1"/>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kern="200" dirty="0">
                  <a:solidFill>
                    <a:schemeClr val="tx1"/>
                  </a:solidFill>
                  <a:latin typeface="Calibri" panose="020F0502020204030204" pitchFamily="34" charset="0"/>
                </a:rPr>
                <a:t>responsiveness and lowering costs</a:t>
              </a:r>
              <a:endParaRPr lang="en-US" altLang="zh-CN" sz="1200" kern="200" dirty="0">
                <a:solidFill>
                  <a:schemeClr val="tx1"/>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chemeClr val="tx1"/>
                  </a:solidFill>
                  <a:latin typeface="Calibri" panose="020F0502020204030204" pitchFamily="34" charset="0"/>
                </a:rPr>
                <a:t>Closed-loop Governance from Planning to Performance Tracking:</a:t>
              </a:r>
              <a:r>
                <a:rPr lang="en-US" altLang="zh-CN" sz="1200" kern="200" dirty="0">
                  <a:solidFill>
                    <a:schemeClr val="tx1"/>
                  </a:solidFill>
                  <a:latin typeface="Calibri" panose="020F0502020204030204" pitchFamily="34" charset="0"/>
                </a:rPr>
                <a:t> improving </a:t>
              </a:r>
              <a:endParaRPr lang="en-US" altLang="zh-CN" sz="1200" kern="200" dirty="0">
                <a:solidFill>
                  <a:schemeClr val="tx1"/>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kern="200" dirty="0">
                  <a:solidFill>
                    <a:schemeClr val="tx1"/>
                  </a:solidFill>
                  <a:latin typeface="Calibri" panose="020F0502020204030204" pitchFamily="34" charset="0"/>
                </a:rPr>
                <a:t>alignment, traceability, and execution control</a:t>
              </a:r>
              <a:endParaRPr lang="en-US" altLang="zh-CN" sz="1200" kern="200" dirty="0">
                <a:solidFill>
                  <a:schemeClr val="tx1"/>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chemeClr val="tx1"/>
                  </a:solidFill>
                  <a:latin typeface="Calibri" panose="020F0502020204030204" pitchFamily="34" charset="0"/>
                </a:rPr>
                <a:t>Profitability Analysis Down to SKU and Channel Level:</a:t>
              </a:r>
              <a:r>
                <a:rPr lang="en-US" altLang="zh-CN" sz="1200" b="1" kern="200" dirty="0">
                  <a:solidFill>
                    <a:schemeClr val="tx1"/>
                  </a:solidFill>
                  <a:latin typeface="Calibri" panose="020F0502020204030204" pitchFamily="34" charset="0"/>
                </a:rPr>
                <a:t> </a:t>
              </a:r>
              <a:r>
                <a:rPr lang="en-US" altLang="zh-CN" sz="1200" kern="200" dirty="0">
                  <a:solidFill>
                    <a:schemeClr val="tx1"/>
                  </a:solidFill>
                  <a:latin typeface="Calibri" panose="020F0502020204030204" pitchFamily="34" charset="0"/>
                </a:rPr>
                <a:t>enabling precision in </a:t>
              </a:r>
              <a:endParaRPr lang="en-US" altLang="zh-CN" sz="1200" kern="200" dirty="0">
                <a:solidFill>
                  <a:schemeClr val="tx1"/>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kern="200" dirty="0">
                  <a:solidFill>
                    <a:schemeClr val="tx1"/>
                  </a:solidFill>
                  <a:latin typeface="Calibri" panose="020F0502020204030204" pitchFamily="34" charset="0"/>
                </a:rPr>
                <a:t>resource allocation and strategic decisions</a:t>
              </a:r>
              <a:endParaRPr lang="en-US" altLang="zh-CN" sz="1200" kern="200" dirty="0">
                <a:solidFill>
                  <a:schemeClr val="tx1"/>
                </a:solidFill>
                <a:latin typeface="Calibri" panose="020F0502020204030204" pitchFamily="34" charset="0"/>
              </a:endParaRPr>
            </a:p>
          </p:txBody>
        </p:sp>
      </p:grpSp>
      <p:sp>
        <p:nvSpPr>
          <p:cNvPr id="15" name="文本框 14"/>
          <p:cNvSpPr txBox="1"/>
          <p:nvPr>
            <p:custDataLst>
              <p:tags r:id="rId11"/>
            </p:custDataLst>
          </p:nvPr>
        </p:nvSpPr>
        <p:spPr>
          <a:xfrm>
            <a:off x="471805" y="4911090"/>
            <a:ext cx="5875020" cy="1091565"/>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sym typeface="+mn-ea"/>
              </a:rPr>
              <a:t>EVOX helped Master Kong transform its budgeting, analytics, and financial agility, empowering data-driven decisions and growth at scale.</a:t>
            </a:r>
            <a:endParaRPr lang="zh-CN" altLang="zh-CN" sz="1000" kern="200" dirty="0">
              <a:solidFill>
                <a:schemeClr val="tx1"/>
              </a:solidFill>
              <a:latin typeface="Calibri" panose="020F0502020204030204" pitchFamily="34" charset="0"/>
            </a:endParaRPr>
          </a:p>
          <a:p>
            <a:endParaRPr lang="zh-CN" altLang="zh-CN" sz="1000" kern="200" dirty="0">
              <a:solidFill>
                <a:schemeClr val="tx1"/>
              </a:solidFill>
              <a:latin typeface="Calibri" panose="020F0502020204030204" pitchFamily="34" charset="0"/>
            </a:endParaRPr>
          </a:p>
        </p:txBody>
      </p:sp>
      <p:sp>
        <p:nvSpPr>
          <p:cNvPr id="18" name="圆角矩形 17"/>
          <p:cNvSpPr/>
          <p:nvPr/>
        </p:nvSpPr>
        <p:spPr>
          <a:xfrm>
            <a:off x="462280" y="6169660"/>
            <a:ext cx="6082665" cy="1802130"/>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 name="图片 2" descr="图片2"/>
          <p:cNvPicPr>
            <a:picLocks noChangeAspect="1"/>
          </p:cNvPicPr>
          <p:nvPr/>
        </p:nvPicPr>
        <p:blipFill>
          <a:blip r:embed="rId12"/>
          <a:srcRect l="8223" r="8957" b="12673"/>
          <a:stretch>
            <a:fillRect/>
          </a:stretch>
        </p:blipFill>
        <p:spPr>
          <a:xfrm>
            <a:off x="555625" y="1270635"/>
            <a:ext cx="3598545" cy="1962785"/>
          </a:xfrm>
          <a:prstGeom prst="rect">
            <a:avLst/>
          </a:prstGeom>
        </p:spPr>
      </p:pic>
      <p:sp>
        <p:nvSpPr>
          <p:cNvPr id="20" name="文本框 19"/>
          <p:cNvSpPr txBox="1"/>
          <p:nvPr/>
        </p:nvSpPr>
        <p:spPr>
          <a:xfrm>
            <a:off x="4060825" y="179070"/>
            <a:ext cx="3260090"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Food &amp; Beverage</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538480" y="612140"/>
            <a:ext cx="5810885" cy="525780"/>
          </a:xfrm>
          <a:prstGeom prst="rect">
            <a:avLst/>
          </a:prstGeom>
          <a:noFill/>
        </p:spPr>
        <p:txBody>
          <a:bodyPr wrap="square" rtlCol="0">
            <a:noAutofit/>
          </a:bodyPr>
          <a:lstStyle/>
          <a:p>
            <a:r>
              <a:rPr lang="en-US" altLang="zh-CN" b="1" dirty="0">
                <a:solidFill>
                  <a:srgbClr val="28548E"/>
                </a:solidFill>
                <a:latin typeface="+mj-lt"/>
              </a:rPr>
              <a:t>Mingmei Building a Future-Ready Consolidated Reporting System with EVOX </a:t>
            </a:r>
            <a:endParaRPr lang="en-US" altLang="zh-CN" b="1" dirty="0">
              <a:solidFill>
                <a:srgbClr val="28548E"/>
              </a:solidFill>
              <a:latin typeface="+mj-lt"/>
            </a:endParaRPr>
          </a:p>
        </p:txBody>
      </p:sp>
      <p:sp>
        <p:nvSpPr>
          <p:cNvPr id="16" name="文本框 15"/>
          <p:cNvSpPr txBox="1"/>
          <p:nvPr/>
        </p:nvSpPr>
        <p:spPr>
          <a:xfrm>
            <a:off x="4301490" y="1050290"/>
            <a:ext cx="2271395" cy="2183765"/>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Mingmei New Energy is a global leader in customized lithium-ion battery solutions, with 2,500+ employees and six R&amp;D centers across China, Japan, South Korea, Europe, and the U.S., driving innovation in smart energy systems and electrification.</a:t>
            </a:r>
            <a:endParaRPr lang="en-US" altLang="zh-CN" sz="1200"/>
          </a:p>
        </p:txBody>
      </p:sp>
      <p:grpSp>
        <p:nvGrpSpPr>
          <p:cNvPr id="6" name="组合 5"/>
          <p:cNvGrpSpPr/>
          <p:nvPr>
            <p:custDataLst>
              <p:tags r:id="rId2"/>
            </p:custDataLst>
          </p:nvPr>
        </p:nvGrpSpPr>
        <p:grpSpPr>
          <a:xfrm>
            <a:off x="492404" y="3267050"/>
            <a:ext cx="6080760" cy="1416685"/>
            <a:chOff x="687521" y="2481945"/>
            <a:chExt cx="6080760" cy="1416685"/>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060440" cy="1168400"/>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Master data across systems was fragmented and hard to reconcile.</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Currency and ledger standards varied, impacting reporting accuracy.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Manual reconciliation delayed intercompany close and transparency.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Equity and internal eliminations were time-consuming and inconsistent.</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Financial analysis lacked granularity across regions and teams.</a:t>
              </a:r>
              <a:endParaRPr lang="en-US" altLang="zh-CN" sz="1000" kern="200" dirty="0">
                <a:solidFill>
                  <a:schemeClr val="tx1"/>
                </a:solidFill>
                <a:latin typeface="Calibri" panose="020F0502020204030204" pitchFamily="34" charset="0"/>
              </a:endParaRPr>
            </a:p>
            <a:p>
              <a:endParaRPr lang="en-US" altLang="zh-CN" sz="1000" kern="200" dirty="0">
                <a:solidFill>
                  <a:schemeClr val="tx1"/>
                </a:solidFill>
                <a:latin typeface="Calibri" panose="020F0502020204030204" pitchFamily="34" charset="0"/>
              </a:endParaRPr>
            </a:p>
            <a:p>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72084" y="4439476"/>
            <a:ext cx="6381750" cy="1108710"/>
            <a:chOff x="687521" y="3308283"/>
            <a:chExt cx="6381750" cy="1108710"/>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841" y="3556568"/>
              <a:ext cx="6361430" cy="86042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Seamlessly connects automated and manual data across ERP, CRM, and other systems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Instantly identifies and visualizes transactional mismatches in real time</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Streamlines equity, intercompany, and inventory adjustments with override flexibility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Enables dynamic reporting by sales, region, and production unit</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Ensures compliance and audit-readiness through secure access and workflows</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441960" y="6599555"/>
            <a:ext cx="6858635" cy="2127843"/>
            <a:chOff x="708051" y="4134621"/>
            <a:chExt cx="7919377" cy="1981233"/>
          </a:xfrm>
        </p:grpSpPr>
        <p:sp>
          <p:nvSpPr>
            <p:cNvPr id="13" name="文本框 12"/>
            <p:cNvSpPr txBox="1"/>
            <p:nvPr>
              <p:custDataLst>
                <p:tags r:id="rId9"/>
              </p:custDataLst>
            </p:nvPr>
          </p:nvSpPr>
          <p:spPr>
            <a:xfrm>
              <a:off x="804834" y="4134621"/>
              <a:ext cx="4241991" cy="285573"/>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8051" y="4382906"/>
              <a:ext cx="7919377" cy="1732948"/>
            </a:xfrm>
            <a:prstGeom prst="rect">
              <a:avLst/>
            </a:prstGeom>
            <a:noFill/>
          </p:spPr>
          <p:txBody>
            <a:bodyPr wrap="square" rtlCol="0">
              <a:spAutoFit/>
            </a:bodyPr>
            <a:lstStyle/>
            <a:p>
              <a:pPr>
                <a:lnSpc>
                  <a:spcPct val="120000"/>
                </a:lnSpc>
                <a:spcBef>
                  <a:spcPts val="0"/>
                </a:spcBef>
                <a:spcAft>
                  <a:spcPts val="0"/>
                </a:spcAft>
              </a:pPr>
              <a:r>
                <a:rPr lang="en-US" altLang="zh-CN" sz="1200" b="1" i="1" kern="200" dirty="0">
                  <a:solidFill>
                    <a:srgbClr val="3F3B3A"/>
                  </a:solidFill>
                  <a:latin typeface="Calibri" panose="020F0502020204030204" pitchFamily="34" charset="0"/>
                </a:rPr>
                <a:t>- </a:t>
              </a:r>
              <a:r>
                <a:rPr lang="en-US" altLang="zh-CN" sz="1200" b="1" i="1" u="sng" kern="200" dirty="0">
                  <a:solidFill>
                    <a:srgbClr val="3F3B3A"/>
                  </a:solidFill>
                  <a:latin typeface="Calibri" panose="020F0502020204030204" pitchFamily="34" charset="0"/>
                </a:rPr>
                <a:t>40% Faster Consolidation Cycles:</a:t>
              </a:r>
              <a:r>
                <a:rPr lang="en-US" altLang="zh-CN" sz="1200" i="1" u="sng"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Automated workflows reduced manual </a:t>
              </a:r>
              <a:endParaRPr lang="en-US" altLang="zh-CN" sz="1200" kern="200" dirty="0">
                <a:solidFill>
                  <a:srgbClr val="3F3B3A"/>
                </a:solidFill>
                <a:latin typeface="Calibri" panose="020F0502020204030204" pitchFamily="34" charset="0"/>
              </a:endParaRPr>
            </a:p>
            <a:p>
              <a:pPr>
                <a:lnSpc>
                  <a:spcPct val="120000"/>
                </a:lnSpc>
                <a:spcBef>
                  <a:spcPts val="0"/>
                </a:spcBef>
                <a:spcAft>
                  <a:spcPts val="0"/>
                </a:spcAft>
              </a:pPr>
              <a:r>
                <a:rPr lang="en-US" altLang="zh-CN" sz="1200" kern="200" dirty="0">
                  <a:solidFill>
                    <a:srgbClr val="3F3B3A"/>
                  </a:solidFill>
                  <a:latin typeface="Calibri" panose="020F0502020204030204" pitchFamily="34" charset="0"/>
                </a:rPr>
                <a:t>interventions, accelerating month-end closes.</a:t>
              </a:r>
              <a:endParaRPr lang="en-US" altLang="zh-CN" sz="1200" kern="200" dirty="0">
                <a:solidFill>
                  <a:srgbClr val="3F3B3A"/>
                </a:solidFill>
                <a:latin typeface="Calibri" panose="020F0502020204030204" pitchFamily="34" charset="0"/>
              </a:endParaRPr>
            </a:p>
            <a:p>
              <a:pPr>
                <a:lnSpc>
                  <a:spcPct val="120000"/>
                </a:lnSpc>
                <a:spcBef>
                  <a:spcPts val="0"/>
                </a:spcBef>
                <a:spcAft>
                  <a:spcPts val="0"/>
                </a:spcAft>
              </a:pPr>
              <a:r>
                <a:rPr lang="en-US" altLang="zh-CN" sz="1200" b="1" kern="200" dirty="0">
                  <a:solidFill>
                    <a:srgbClr val="3F3B3A"/>
                  </a:solidFill>
                  <a:latin typeface="Calibri" panose="020F0502020204030204" pitchFamily="34" charset="0"/>
                </a:rPr>
                <a:t>- </a:t>
              </a:r>
              <a:r>
                <a:rPr lang="en-US" altLang="zh-CN" sz="1200" b="1" i="1" u="sng" kern="200" dirty="0">
                  <a:solidFill>
                    <a:srgbClr val="3F3B3A"/>
                  </a:solidFill>
                  <a:latin typeface="Calibri" panose="020F0502020204030204" pitchFamily="34" charset="0"/>
                </a:rPr>
                <a:t>95%+ Data Accuracy: </a:t>
              </a:r>
              <a:r>
                <a:rPr lang="en-US" altLang="zh-CN" sz="1200" kern="200" dirty="0">
                  <a:solidFill>
                    <a:srgbClr val="3F3B3A"/>
                  </a:solidFill>
                  <a:latin typeface="Calibri" panose="020F0502020204030204" pitchFamily="34" charset="0"/>
                </a:rPr>
                <a:t>Standardized accounting rules and elimination logic enhanced </a:t>
              </a:r>
              <a:endParaRPr lang="en-US" altLang="zh-CN" sz="1200" kern="200" dirty="0">
                <a:solidFill>
                  <a:srgbClr val="3F3B3A"/>
                </a:solidFill>
                <a:latin typeface="Calibri" panose="020F0502020204030204" pitchFamily="34" charset="0"/>
              </a:endParaRPr>
            </a:p>
            <a:p>
              <a:pPr>
                <a:lnSpc>
                  <a:spcPct val="120000"/>
                </a:lnSpc>
                <a:spcBef>
                  <a:spcPts val="0"/>
                </a:spcBef>
                <a:spcAft>
                  <a:spcPts val="0"/>
                </a:spcAft>
              </a:pPr>
              <a:r>
                <a:rPr lang="en-US" altLang="zh-CN" sz="1200" kern="200" dirty="0">
                  <a:solidFill>
                    <a:srgbClr val="3F3B3A"/>
                  </a:solidFill>
                  <a:latin typeface="Calibri" panose="020F0502020204030204" pitchFamily="34" charset="0"/>
                </a:rPr>
                <a:t>reporting integrity.</a:t>
              </a:r>
              <a:endParaRPr lang="en-US" altLang="zh-CN" sz="1200" kern="200" dirty="0">
                <a:solidFill>
                  <a:srgbClr val="3F3B3A"/>
                </a:solidFill>
                <a:latin typeface="Calibri" panose="020F0502020204030204" pitchFamily="34" charset="0"/>
              </a:endParaRPr>
            </a:p>
            <a:p>
              <a:pPr>
                <a:lnSpc>
                  <a:spcPct val="120000"/>
                </a:lnSpc>
                <a:spcBef>
                  <a:spcPts val="0"/>
                </a:spcBef>
                <a:spcAft>
                  <a:spcPts val="0"/>
                </a:spcAft>
              </a:pPr>
              <a:r>
                <a:rPr lang="en-US" altLang="zh-CN" sz="1200" b="1" kern="200" dirty="0">
                  <a:solidFill>
                    <a:srgbClr val="3F3B3A"/>
                  </a:solidFill>
                  <a:latin typeface="Calibri" panose="020F0502020204030204" pitchFamily="34" charset="0"/>
                </a:rPr>
                <a:t>- </a:t>
              </a:r>
              <a:r>
                <a:rPr lang="en-US" altLang="zh-CN" sz="1200" b="1" i="1" u="sng" kern="200" dirty="0">
                  <a:solidFill>
                    <a:srgbClr val="3F3B3A"/>
                  </a:solidFill>
                  <a:latin typeface="Calibri" panose="020F0502020204030204" pitchFamily="34" charset="0"/>
                </a:rPr>
                <a:t>360</a:t>
              </a:r>
              <a:r>
                <a:rPr lang="en-US" altLang="en-US" sz="1200" b="1" i="1" u="sng" kern="200" dirty="0">
                  <a:solidFill>
                    <a:srgbClr val="3F3B3A"/>
                  </a:solidFill>
                  <a:latin typeface="Calibri" panose="020F0502020204030204" pitchFamily="34" charset="0"/>
                </a:rPr>
                <a:t>°</a:t>
              </a:r>
              <a:r>
                <a:rPr lang="en-US" altLang="zh-CN" sz="1200" b="1" i="1" u="sng" kern="200" dirty="0">
                  <a:solidFill>
                    <a:srgbClr val="3F3B3A"/>
                  </a:solidFill>
                  <a:latin typeface="Calibri" panose="020F0502020204030204" pitchFamily="34" charset="0"/>
                </a:rPr>
                <a:t> Transaction Visibility: </a:t>
              </a:r>
              <a:r>
                <a:rPr lang="en-US" altLang="zh-CN" sz="1200" kern="200" dirty="0">
                  <a:solidFill>
                    <a:srgbClr val="3F3B3A"/>
                  </a:solidFill>
                  <a:latin typeface="Calibri" panose="020F0502020204030204" pitchFamily="34" charset="0"/>
                </a:rPr>
                <a:t>Real-time intercompany transparency eliminated </a:t>
              </a:r>
              <a:endParaRPr lang="en-US" altLang="zh-CN" sz="1200" kern="200" dirty="0">
                <a:solidFill>
                  <a:srgbClr val="3F3B3A"/>
                </a:solidFill>
                <a:latin typeface="Calibri" panose="020F0502020204030204" pitchFamily="34" charset="0"/>
              </a:endParaRPr>
            </a:p>
            <a:p>
              <a:pPr>
                <a:lnSpc>
                  <a:spcPct val="120000"/>
                </a:lnSpc>
                <a:spcBef>
                  <a:spcPts val="0"/>
                </a:spcBef>
                <a:spcAft>
                  <a:spcPts val="0"/>
                </a:spcAft>
              </a:pPr>
              <a:r>
                <a:rPr lang="en-US" altLang="zh-CN" sz="1200" kern="200" dirty="0">
                  <a:solidFill>
                    <a:srgbClr val="3F3B3A"/>
                  </a:solidFill>
                  <a:latin typeface="Calibri" panose="020F0502020204030204" pitchFamily="34" charset="0"/>
                </a:rPr>
                <a:t>reconciliation delays.</a:t>
              </a:r>
              <a:endParaRPr lang="en-US" altLang="zh-CN" sz="1200" kern="200" dirty="0">
                <a:solidFill>
                  <a:srgbClr val="3F3B3A"/>
                </a:solidFill>
                <a:latin typeface="Calibri" panose="020F0502020204030204" pitchFamily="34" charset="0"/>
              </a:endParaRPr>
            </a:p>
            <a:p>
              <a:pPr>
                <a:lnSpc>
                  <a:spcPct val="120000"/>
                </a:lnSpc>
                <a:spcBef>
                  <a:spcPts val="0"/>
                </a:spcBef>
                <a:spcAft>
                  <a:spcPts val="0"/>
                </a:spcAft>
              </a:pPr>
              <a:r>
                <a:rPr lang="en-US" altLang="zh-CN" sz="1200" b="1" kern="200" dirty="0">
                  <a:solidFill>
                    <a:srgbClr val="3F3B3A"/>
                  </a:solidFill>
                  <a:latin typeface="Calibri" panose="020F0502020204030204" pitchFamily="34" charset="0"/>
                </a:rPr>
                <a:t>- </a:t>
              </a:r>
              <a:r>
                <a:rPr lang="en-US" altLang="zh-CN" sz="1200" b="1" i="1" u="sng" kern="200" dirty="0">
                  <a:solidFill>
                    <a:srgbClr val="3F3B3A"/>
                  </a:solidFill>
                  <a:latin typeface="Calibri" panose="020F0502020204030204" pitchFamily="34" charset="0"/>
                </a:rPr>
                <a:t>Scalable Decision Intelligence:</a:t>
              </a:r>
              <a:r>
                <a:rPr lang="en-US" altLang="zh-CN" sz="1200" i="1" u="sng" kern="200" dirty="0">
                  <a:solidFill>
                    <a:srgbClr val="3F3B3A"/>
                  </a:solidFill>
                  <a:latin typeface="Calibri" panose="020F0502020204030204" pitchFamily="34" charset="0"/>
                </a:rPr>
                <a:t> </a:t>
              </a:r>
              <a:r>
                <a:rPr lang="en-US" altLang="zh-CN" sz="1200" kern="200" dirty="0">
                  <a:solidFill>
                    <a:srgbClr val="3F3B3A"/>
                  </a:solidFill>
                  <a:latin typeface="Calibri" panose="020F0502020204030204" pitchFamily="34" charset="0"/>
                </a:rPr>
                <a:t>On-demand analytics empowered cross-functional </a:t>
              </a:r>
              <a:endParaRPr lang="en-US" altLang="zh-CN" sz="1200" kern="200" dirty="0">
                <a:solidFill>
                  <a:srgbClr val="3F3B3A"/>
                </a:solidFill>
                <a:latin typeface="Calibri" panose="020F0502020204030204" pitchFamily="34" charset="0"/>
              </a:endParaRPr>
            </a:p>
            <a:p>
              <a:pPr>
                <a:lnSpc>
                  <a:spcPct val="120000"/>
                </a:lnSpc>
                <a:spcBef>
                  <a:spcPts val="0"/>
                </a:spcBef>
                <a:spcAft>
                  <a:spcPts val="0"/>
                </a:spcAft>
              </a:pPr>
              <a:r>
                <a:rPr lang="en-US" altLang="zh-CN" sz="1200" kern="200" dirty="0">
                  <a:solidFill>
                    <a:srgbClr val="3F3B3A"/>
                  </a:solidFill>
                  <a:latin typeface="Calibri" panose="020F0502020204030204" pitchFamily="34" charset="0"/>
                </a:rPr>
                <a:t>resource optimization</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471805" y="5275580"/>
            <a:ext cx="5875020" cy="1245235"/>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EVOX offered Mingmei a tailored consolidation platform that could seamlessly scale with its global growth. With intelligent reconciliation, rule-based automation, and dynamic analytics, EVOX empowered Mingmei to modernize financial governance while enabling real-time strategic control across entities.</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41960" y="6558280"/>
            <a:ext cx="6130290" cy="2280285"/>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2" name="图片 21" descr="_3D_p_p100_p_3D"/>
          <p:cNvPicPr>
            <a:picLocks noChangeAspect="1"/>
          </p:cNvPicPr>
          <p:nvPr/>
        </p:nvPicPr>
        <p:blipFill>
          <a:blip r:embed="rId12"/>
          <a:stretch>
            <a:fillRect/>
          </a:stretch>
        </p:blipFill>
        <p:spPr>
          <a:xfrm>
            <a:off x="538480" y="1347470"/>
            <a:ext cx="3661410" cy="1861185"/>
          </a:xfrm>
          <a:prstGeom prst="rect">
            <a:avLst/>
          </a:prstGeom>
        </p:spPr>
      </p:pic>
      <p:sp>
        <p:nvSpPr>
          <p:cNvPr id="20" name="文本框 19"/>
          <p:cNvSpPr txBox="1"/>
          <p:nvPr/>
        </p:nvSpPr>
        <p:spPr>
          <a:xfrm>
            <a:off x="4396105" y="179070"/>
            <a:ext cx="3260090"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New Energy</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471805" y="612140"/>
            <a:ext cx="5810885" cy="525780"/>
          </a:xfrm>
          <a:prstGeom prst="rect">
            <a:avLst/>
          </a:prstGeom>
          <a:noFill/>
        </p:spPr>
        <p:txBody>
          <a:bodyPr wrap="square" rtlCol="0">
            <a:noAutofit/>
          </a:bodyPr>
          <a:lstStyle/>
          <a:p>
            <a:r>
              <a:rPr lang="en-US" altLang="zh-CN" b="1" dirty="0">
                <a:solidFill>
                  <a:srgbClr val="28548E"/>
                </a:solidFill>
                <a:latin typeface="+mj-lt"/>
              </a:rPr>
              <a:t>BASF’s Financial Transformation: </a:t>
            </a:r>
            <a:endParaRPr lang="en-US" altLang="zh-CN" b="1" dirty="0">
              <a:solidFill>
                <a:srgbClr val="28548E"/>
              </a:solidFill>
              <a:latin typeface="+mj-lt"/>
            </a:endParaRPr>
          </a:p>
          <a:p>
            <a:r>
              <a:rPr lang="en-US" altLang="zh-CN" sz="1400" b="1" dirty="0">
                <a:solidFill>
                  <a:srgbClr val="28548E"/>
                </a:solidFill>
                <a:latin typeface="+mj-lt"/>
              </a:rPr>
              <a:t>Unlocking Agility and Precision with EVOX</a:t>
            </a:r>
            <a:endParaRPr lang="en-US" altLang="zh-CN" sz="1400" b="1" dirty="0">
              <a:solidFill>
                <a:srgbClr val="28548E"/>
              </a:solidFill>
              <a:latin typeface="+mj-lt"/>
            </a:endParaRPr>
          </a:p>
        </p:txBody>
      </p:sp>
      <p:sp>
        <p:nvSpPr>
          <p:cNvPr id="16" name="文本框 15"/>
          <p:cNvSpPr txBox="1"/>
          <p:nvPr/>
        </p:nvSpPr>
        <p:spPr>
          <a:xfrm>
            <a:off x="4396105" y="1029970"/>
            <a:ext cx="2176145" cy="2183765"/>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As a global chemical leader, BASF runs decentralized, multi-tiered operations across regions and functions from sourcing to sales. This complexity demands high accuracy, agility, and control in managing enterprise-wide budgets.</a:t>
            </a:r>
            <a:endParaRPr lang="en-US" altLang="zh-CN" sz="1200"/>
          </a:p>
          <a:p>
            <a:endParaRPr lang="en-US" altLang="zh-CN" sz="1200"/>
          </a:p>
        </p:txBody>
      </p:sp>
      <p:grpSp>
        <p:nvGrpSpPr>
          <p:cNvPr id="6" name="组合 5"/>
          <p:cNvGrpSpPr/>
          <p:nvPr>
            <p:custDataLst>
              <p:tags r:id="rId2"/>
            </p:custDataLst>
          </p:nvPr>
        </p:nvGrpSpPr>
        <p:grpSpPr>
          <a:xfrm>
            <a:off x="492404" y="3277210"/>
            <a:ext cx="6080760" cy="1263015"/>
            <a:chOff x="687521" y="2481945"/>
            <a:chExt cx="6080760" cy="1263015"/>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060440" cy="1014730"/>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Limited data traceability in legacy systems obscured budget origins and decision logic.</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Manual, error-prone budgeting processes caused inefficiency and resource drain.</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Inflexible planning tools restricted scenario simulation and historical comparisons.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Lack of integration between SAP and legacy tools created data silos and bottlenecks.</a:t>
              </a:r>
              <a:endParaRPr lang="en-US" altLang="zh-CN" sz="1000" kern="200" dirty="0">
                <a:solidFill>
                  <a:schemeClr val="tx1"/>
                </a:solidFill>
                <a:latin typeface="Calibri" panose="020F0502020204030204" pitchFamily="34" charset="0"/>
              </a:endParaRPr>
            </a:p>
            <a:p>
              <a:endParaRPr lang="en-US" altLang="zh-CN" sz="1000" kern="200" dirty="0">
                <a:solidFill>
                  <a:schemeClr val="tx1"/>
                </a:solidFill>
                <a:latin typeface="Calibri" panose="020F0502020204030204" pitchFamily="34" charset="0"/>
              </a:endParaRPr>
            </a:p>
            <a:p>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89229" y="4241356"/>
            <a:ext cx="6381750" cy="1108710"/>
            <a:chOff x="687521" y="3308283"/>
            <a:chExt cx="6381750" cy="1108710"/>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841" y="3556568"/>
              <a:ext cx="6361430" cy="86042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Unified Budget Architecture: Standardized models and templates ensured global consistency.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Automated Rule Engine: Predefined logic reduced manual work and improved data accuracy.</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Intelligent Collaboration: Real-time, rule-based workflows enhanced agility and alignment.</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Process Standardization: A clear budgeting calendar ensured timely, compliant execution.</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SAP Integration: Seamless connection eliminated silos and enabled real-time visibility.</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471805" y="6541770"/>
            <a:ext cx="6398895" cy="2160270"/>
            <a:chOff x="708051" y="4134621"/>
            <a:chExt cx="7388535" cy="2160270"/>
          </a:xfrm>
        </p:grpSpPr>
        <p:sp>
          <p:nvSpPr>
            <p:cNvPr id="13" name="文本框 12"/>
            <p:cNvSpPr txBox="1"/>
            <p:nvPr>
              <p:custDataLst>
                <p:tags r:id="rId9"/>
              </p:custDataLst>
            </p:nvPr>
          </p:nvSpPr>
          <p:spPr>
            <a:xfrm>
              <a:off x="804834" y="4134621"/>
              <a:ext cx="4241991" cy="306705"/>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8051" y="4433706"/>
              <a:ext cx="7388535" cy="1861185"/>
            </a:xfrm>
            <a:prstGeom prst="rect">
              <a:avLst/>
            </a:prstGeom>
            <a:noFill/>
          </p:spPr>
          <p:txBody>
            <a:bodyPr wrap="square" rtlCol="0">
              <a:spAutoFit/>
            </a:bodyPr>
            <a:lstStyle/>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80%+ Efficiency Gain</a:t>
              </a:r>
              <a:r>
                <a:rPr lang="en-US" altLang="zh-CN" sz="1200" kern="200" dirty="0">
                  <a:solidFill>
                    <a:srgbClr val="3F3B3A"/>
                  </a:solidFill>
                  <a:latin typeface="Calibri" panose="020F0502020204030204" pitchFamily="34" charset="0"/>
                </a:rPr>
                <a:t>: intelligent automation significantly reduced manual effort and accelerated the budgeting cycle, driving operational efficiency</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Enhanced Data Integrity:</a:t>
              </a:r>
              <a:r>
                <a:rPr lang="en-US" altLang="zh-CN" sz="1200" kern="200" dirty="0">
                  <a:solidFill>
                    <a:srgbClr val="3F3B3A"/>
                  </a:solidFill>
                  <a:latin typeface="Calibri" panose="020F0502020204030204" pitchFamily="34" charset="0"/>
                </a:rPr>
                <a:t> Standardized rules and transparent logic ensured greater </a:t>
              </a:r>
              <a:endParaRPr lang="en-US" altLang="zh-CN" sz="1200" kern="200" dirty="0">
                <a:solidFill>
                  <a:srgbClr val="3F3B3A"/>
                </a:solidFill>
                <a:latin typeface="Calibri" panose="020F0502020204030204" pitchFamily="34" charset="0"/>
              </a:endParaRPr>
            </a:p>
            <a:p>
              <a:pPr indent="0">
                <a:lnSpc>
                  <a:spcPct val="120000"/>
                </a:lnSpc>
                <a:spcBef>
                  <a:spcPts val="0"/>
                </a:spcBef>
                <a:spcAft>
                  <a:spcPts val="0"/>
                </a:spcAft>
                <a:buFont typeface="Arial" panose="020B0604020202020204" pitchFamily="34" charset="0"/>
                <a:buNone/>
              </a:pPr>
              <a:r>
                <a:rPr lang="en-US" altLang="zh-CN" sz="1200" kern="200" dirty="0">
                  <a:solidFill>
                    <a:srgbClr val="3F3B3A"/>
                  </a:solidFill>
                  <a:latin typeface="Calibri" panose="020F0502020204030204" pitchFamily="34" charset="0"/>
                </a:rPr>
                <a:t>    accuracy, consistency, and confidence in budgeting outcomes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Decision Agility:</a:t>
              </a:r>
              <a:r>
                <a:rPr lang="en-US" altLang="zh-CN" sz="1200" kern="200" dirty="0">
                  <a:solidFill>
                    <a:srgbClr val="3F3B3A"/>
                  </a:solidFill>
                  <a:latin typeface="Calibri" panose="020F0502020204030204" pitchFamily="34" charset="0"/>
                </a:rPr>
                <a:t> Real-time scenario modeling and version control improved </a:t>
              </a:r>
              <a:endParaRPr lang="en-US" altLang="zh-CN" sz="1200" kern="200" dirty="0">
                <a:solidFill>
                  <a:srgbClr val="3F3B3A"/>
                </a:solidFill>
                <a:latin typeface="Calibri" panose="020F0502020204030204" pitchFamily="34" charset="0"/>
              </a:endParaRPr>
            </a:p>
            <a:p>
              <a:pPr indent="0">
                <a:lnSpc>
                  <a:spcPct val="120000"/>
                </a:lnSpc>
                <a:spcBef>
                  <a:spcPts val="0"/>
                </a:spcBef>
                <a:spcAft>
                  <a:spcPts val="0"/>
                </a:spcAft>
                <a:buFont typeface="Arial" panose="020B0604020202020204" pitchFamily="34" charset="0"/>
                <a:buNone/>
              </a:pPr>
              <a:r>
                <a:rPr lang="en-US" altLang="zh-CN" sz="1200" kern="200" dirty="0">
                  <a:solidFill>
                    <a:srgbClr val="3F3B3A"/>
                  </a:solidFill>
                  <a:latin typeface="Calibri" panose="020F0502020204030204" pitchFamily="34" charset="0"/>
                </a:rPr>
                <a:t>    transparency in budget adjustments</a:t>
              </a:r>
              <a:endParaRPr lang="en-US" altLang="zh-CN" sz="1200" kern="200" dirty="0">
                <a:solidFill>
                  <a:srgbClr val="3F3B3A"/>
                </a:solidFill>
                <a:latin typeface="Calibri" panose="020F0502020204030204" pitchFamily="34" charset="0"/>
              </a:endParaRPr>
            </a:p>
            <a:p>
              <a:pPr marL="171450" indent="-171450">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System Synergy:</a:t>
              </a:r>
              <a:r>
                <a:rPr lang="en-US" altLang="zh-CN" sz="1200" kern="200" dirty="0">
                  <a:solidFill>
                    <a:srgbClr val="3F3B3A"/>
                  </a:solidFill>
                  <a:latin typeface="Calibri" panose="020F0502020204030204" pitchFamily="34" charset="0"/>
                </a:rPr>
                <a:t> Seamless SAP integration unlocked the data flow across platforms,</a:t>
              </a:r>
              <a:endParaRPr lang="en-US" altLang="zh-CN" sz="1200" kern="200" dirty="0">
                <a:solidFill>
                  <a:srgbClr val="3F3B3A"/>
                </a:solidFill>
                <a:latin typeface="Calibri" panose="020F0502020204030204" pitchFamily="34" charset="0"/>
              </a:endParaRPr>
            </a:p>
            <a:p>
              <a:pPr indent="0">
                <a:lnSpc>
                  <a:spcPct val="120000"/>
                </a:lnSpc>
                <a:spcBef>
                  <a:spcPts val="0"/>
                </a:spcBef>
                <a:spcAft>
                  <a:spcPts val="0"/>
                </a:spcAft>
                <a:buFont typeface="Arial" panose="020B0604020202020204" pitchFamily="34" charset="0"/>
                <a:buNone/>
              </a:pPr>
              <a:r>
                <a:rPr lang="en-US" altLang="zh-CN" sz="1200" kern="200" dirty="0">
                  <a:solidFill>
                    <a:srgbClr val="3F3B3A"/>
                  </a:solidFill>
                  <a:latin typeface="Calibri" panose="020F0502020204030204" pitchFamily="34" charset="0"/>
                </a:rPr>
                <a:t>    fostering enterprise-wide planning alignment</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482600" y="5062855"/>
            <a:ext cx="5875020" cy="1706880"/>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BASF adopted the EVOX platform to replace inefficient legacy tools and meet the growing demands of modern budgeting. EVOX offers a unified, automated, and flexible solution that enhances data integrity, enables real-time collaboration, and integrates seamlessly with SAP. This empowers BASF to manage complexity with greater speed, accuracy, and strategic agility across its global operations.</a:t>
            </a:r>
            <a:endParaRPr lang="en-US" altLang="zh-CN" sz="1000" kern="200" dirty="0">
              <a:solidFill>
                <a:schemeClr val="tx1"/>
              </a:solidFill>
              <a:latin typeface="Calibri" panose="020F0502020204030204" pitchFamily="34" charset="0"/>
            </a:endParaRPr>
          </a:p>
          <a:p>
            <a:endParaRPr lang="en-US" altLang="zh-CN" sz="1000" kern="200" dirty="0">
              <a:solidFill>
                <a:schemeClr val="tx1"/>
              </a:solidFill>
              <a:latin typeface="Calibri" panose="020F0502020204030204" pitchFamily="34" charset="0"/>
            </a:endParaRPr>
          </a:p>
          <a:p>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71170" y="6541770"/>
            <a:ext cx="6101080" cy="2273300"/>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 name="图片 2" descr="1"/>
          <p:cNvPicPr>
            <a:picLocks noChangeAspect="1"/>
          </p:cNvPicPr>
          <p:nvPr/>
        </p:nvPicPr>
        <p:blipFill>
          <a:blip r:embed="rId12"/>
          <a:stretch>
            <a:fillRect/>
          </a:stretch>
        </p:blipFill>
        <p:spPr>
          <a:xfrm>
            <a:off x="555625" y="1348740"/>
            <a:ext cx="3717290" cy="1913890"/>
          </a:xfrm>
          <a:prstGeom prst="rect">
            <a:avLst/>
          </a:prstGeom>
        </p:spPr>
      </p:pic>
      <p:sp>
        <p:nvSpPr>
          <p:cNvPr id="20" name="文本框 19"/>
          <p:cNvSpPr txBox="1"/>
          <p:nvPr/>
        </p:nvSpPr>
        <p:spPr>
          <a:xfrm>
            <a:off x="4396105" y="179070"/>
            <a:ext cx="3260090"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Chemical</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538480" y="612140"/>
            <a:ext cx="5810885" cy="525780"/>
          </a:xfrm>
          <a:prstGeom prst="rect">
            <a:avLst/>
          </a:prstGeom>
          <a:noFill/>
        </p:spPr>
        <p:txBody>
          <a:bodyPr wrap="square" rtlCol="0">
            <a:noAutofit/>
          </a:bodyPr>
          <a:lstStyle/>
          <a:p>
            <a:r>
              <a:rPr lang="en-US" altLang="zh-CN" b="1" dirty="0">
                <a:solidFill>
                  <a:srgbClr val="28548E"/>
                </a:solidFill>
                <a:latin typeface="+mj-lt"/>
                <a:sym typeface="+mn-ea"/>
              </a:rPr>
              <a:t>Rorze Transforms Planning and Performance Management with EVOX</a:t>
            </a:r>
            <a:endParaRPr lang="en-US" altLang="zh-CN" b="1" dirty="0">
              <a:solidFill>
                <a:srgbClr val="28548E"/>
              </a:solidFill>
              <a:latin typeface="+mj-lt"/>
            </a:endParaRPr>
          </a:p>
          <a:p>
            <a:endParaRPr lang="en-US" altLang="zh-CN" b="1" dirty="0">
              <a:solidFill>
                <a:srgbClr val="28548E"/>
              </a:solidFill>
              <a:latin typeface="+mj-lt"/>
            </a:endParaRPr>
          </a:p>
        </p:txBody>
      </p:sp>
      <p:sp>
        <p:nvSpPr>
          <p:cNvPr id="16" name="文本框 15"/>
          <p:cNvSpPr txBox="1"/>
          <p:nvPr/>
        </p:nvSpPr>
        <p:spPr>
          <a:xfrm>
            <a:off x="4396105" y="946785"/>
            <a:ext cx="2223770" cy="2183765"/>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RORZE, a global leader in semiconductor and panel display automation systems, has a Shanghai subsidiary handling local manufacturing, sales and services. It quickly meets Chinese customers’ needs to drive digital upgrading of manufacturing processes.</a:t>
            </a:r>
            <a:endParaRPr lang="en-US" altLang="zh-CN" sz="1200"/>
          </a:p>
        </p:txBody>
      </p:sp>
      <p:grpSp>
        <p:nvGrpSpPr>
          <p:cNvPr id="6" name="组合 5"/>
          <p:cNvGrpSpPr/>
          <p:nvPr>
            <p:custDataLst>
              <p:tags r:id="rId2"/>
            </p:custDataLst>
          </p:nvPr>
        </p:nvGrpSpPr>
        <p:grpSpPr>
          <a:xfrm>
            <a:off x="492404" y="3267050"/>
            <a:ext cx="6080760" cy="1108710"/>
            <a:chOff x="687521" y="2481945"/>
            <a:chExt cx="6080760" cy="1108710"/>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060440" cy="86042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Dispersed budgeting process lacking a unified platform, making data integration difficult</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High communication costs between departments, with long budgeting and approval cycles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Budgets not dynamically linked to strategic goals, making it hard to support timely decision-making</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Management unable to access multi-dimensional business data in real time, lacking intuitive visualization tools</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72084" y="4426776"/>
            <a:ext cx="6381750" cy="1108710"/>
            <a:chOff x="687521" y="3308283"/>
            <a:chExt cx="6381750" cy="1108710"/>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841" y="3556568"/>
              <a:ext cx="6361430" cy="86042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Connect budget preparation, adjustment, and execution to eliminate silos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Build flexible data models tailored to financial and business needs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Provide real-time dashboards and variance analysis for performance monitoring</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Streamline workflows with automation and reduce communication costs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Use AI-driven forecasting and simulation to guide trends and decisions</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480060" y="6599555"/>
            <a:ext cx="5944870" cy="2348865"/>
            <a:chOff x="752043" y="4134621"/>
            <a:chExt cx="6864291" cy="2187026"/>
          </a:xfrm>
        </p:grpSpPr>
        <p:sp>
          <p:nvSpPr>
            <p:cNvPr id="13" name="文本框 12"/>
            <p:cNvSpPr txBox="1"/>
            <p:nvPr>
              <p:custDataLst>
                <p:tags r:id="rId9"/>
              </p:custDataLst>
            </p:nvPr>
          </p:nvSpPr>
          <p:spPr>
            <a:xfrm>
              <a:off x="863490" y="4134621"/>
              <a:ext cx="4241991" cy="285573"/>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52043" y="4382945"/>
              <a:ext cx="6864291" cy="1938702"/>
            </a:xfrm>
            <a:prstGeom prst="rect">
              <a:avLst/>
            </a:prstGeom>
            <a:noFill/>
          </p:spPr>
          <p:txBody>
            <a:bodyPr wrap="square" rtlCol="0">
              <a:spAutoFit/>
            </a:bodyPr>
            <a:lstStyle/>
            <a:p>
              <a:pPr marL="182245" indent="-171450" algn="just">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sym typeface="+mn-ea"/>
                </a:rPr>
                <a:t>Faster Budgeting Cycles:</a:t>
              </a:r>
              <a:r>
                <a:rPr lang="en-US" altLang="zh-CN" sz="1200" kern="200" dirty="0">
                  <a:solidFill>
                    <a:srgbClr val="3F3B3A"/>
                  </a:solidFill>
                  <a:latin typeface="Calibri" panose="020F0502020204030204" pitchFamily="34" charset="0"/>
                  <a:sym typeface="+mn-ea"/>
                </a:rPr>
                <a:t> Reduced budget preparation time by 40%, significantly improving efficiency.</a:t>
              </a:r>
              <a:endParaRPr lang="en-US" altLang="zh-CN" sz="1200" kern="200" dirty="0">
                <a:solidFill>
                  <a:srgbClr val="3F3B3A"/>
                </a:solidFill>
                <a:latin typeface="Calibri" panose="020F0502020204030204" pitchFamily="34" charset="0"/>
              </a:endParaRPr>
            </a:p>
            <a:p>
              <a:pPr marL="182245" indent="-171450" algn="just">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sym typeface="+mn-ea"/>
                </a:rPr>
                <a:t>Higher Data Integration:</a:t>
              </a:r>
              <a:r>
                <a:rPr lang="en-US" altLang="zh-CN" sz="1200" kern="200" dirty="0">
                  <a:solidFill>
                    <a:srgbClr val="3F3B3A"/>
                  </a:solidFill>
                  <a:latin typeface="Calibri" panose="020F0502020204030204" pitchFamily="34" charset="0"/>
                  <a:sym typeface="+mn-ea"/>
                </a:rPr>
                <a:t> Achieved 95%+ real-time integration of financial and operational data.</a:t>
              </a:r>
              <a:endParaRPr lang="en-US" altLang="zh-CN" sz="1200" kern="200" dirty="0">
                <a:solidFill>
                  <a:srgbClr val="3F3B3A"/>
                </a:solidFill>
                <a:latin typeface="Calibri" panose="020F0502020204030204" pitchFamily="34" charset="0"/>
              </a:endParaRPr>
            </a:p>
            <a:p>
              <a:pPr marL="182245" indent="-171450" algn="just">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sym typeface="+mn-ea"/>
                </a:rPr>
                <a:t>Improved Collaboration:</a:t>
              </a:r>
              <a:r>
                <a:rPr lang="en-US" altLang="zh-CN" sz="1200" kern="200" dirty="0">
                  <a:solidFill>
                    <a:srgbClr val="3F3B3A"/>
                  </a:solidFill>
                  <a:latin typeface="Calibri" panose="020F0502020204030204" pitchFamily="34" charset="0"/>
                  <a:sym typeface="+mn-ea"/>
                </a:rPr>
                <a:t> Increased cross-departmental efficiency by 50%, with smoother approvals and adjustments.</a:t>
              </a:r>
              <a:endParaRPr lang="en-US" altLang="zh-CN" sz="1200" kern="200" dirty="0">
                <a:solidFill>
                  <a:srgbClr val="3F3B3A"/>
                </a:solidFill>
                <a:latin typeface="Calibri" panose="020F0502020204030204" pitchFamily="34" charset="0"/>
              </a:endParaRPr>
            </a:p>
            <a:p>
              <a:pPr marL="182245" indent="-171450" algn="just">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sym typeface="+mn-ea"/>
                </a:rPr>
                <a:t>Real-time KPI Monitoring:</a:t>
              </a:r>
              <a:r>
                <a:rPr lang="en-US" altLang="zh-CN" sz="1200" kern="200" dirty="0">
                  <a:solidFill>
                    <a:srgbClr val="3F3B3A"/>
                  </a:solidFill>
                  <a:latin typeface="Calibri" panose="020F0502020204030204" pitchFamily="34" charset="0"/>
                  <a:sym typeface="+mn-ea"/>
                </a:rPr>
                <a:t> Enabled executives to track over 100 key performance indicators through dashboards.</a:t>
              </a:r>
              <a:endParaRPr lang="en-US" altLang="zh-CN" sz="1200" kern="200" dirty="0">
                <a:solidFill>
                  <a:srgbClr val="3F3B3A"/>
                </a:solidFill>
                <a:latin typeface="Calibri" panose="020F0502020204030204" pitchFamily="34" charset="0"/>
              </a:endParaRPr>
            </a:p>
            <a:p>
              <a:pPr>
                <a:lnSpc>
                  <a:spcPct val="120000"/>
                </a:lnSpc>
                <a:spcBef>
                  <a:spcPts val="0"/>
                </a:spcBef>
                <a:spcAft>
                  <a:spcPts val="0"/>
                </a:spcAft>
              </a:pP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471805" y="5275580"/>
            <a:ext cx="5875020" cy="1245235"/>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Rorze chose EVOX for its proven expertise in budget and performance management, flexible customization, and advanced architecture that integrates seamlessly with existing systems. Unlike traditional solutions, EVOX provides real-time reporting and intelligent forecasting, enhancing strategic execution and decision-making while accelerating enterprise growth.</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91490" y="6558280"/>
            <a:ext cx="6080760" cy="2280285"/>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3" name="图片 2" descr="截屏2025-08-20 10.43.30"/>
          <p:cNvPicPr>
            <a:picLocks noChangeAspect="1"/>
          </p:cNvPicPr>
          <p:nvPr/>
        </p:nvPicPr>
        <p:blipFill>
          <a:blip r:embed="rId12"/>
          <a:stretch>
            <a:fillRect/>
          </a:stretch>
        </p:blipFill>
        <p:spPr>
          <a:xfrm>
            <a:off x="616585" y="1318895"/>
            <a:ext cx="3583940" cy="1816100"/>
          </a:xfrm>
          <a:prstGeom prst="rect">
            <a:avLst/>
          </a:prstGeom>
        </p:spPr>
      </p:pic>
      <p:sp>
        <p:nvSpPr>
          <p:cNvPr id="20" name="文本框 19"/>
          <p:cNvSpPr txBox="1"/>
          <p:nvPr/>
        </p:nvSpPr>
        <p:spPr>
          <a:xfrm>
            <a:off x="4396105" y="179070"/>
            <a:ext cx="3260090"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Manufacturing</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512445" y="653415"/>
            <a:ext cx="6252845" cy="525780"/>
          </a:xfrm>
          <a:prstGeom prst="rect">
            <a:avLst/>
          </a:prstGeom>
          <a:noFill/>
        </p:spPr>
        <p:txBody>
          <a:bodyPr wrap="square" rtlCol="0">
            <a:noAutofit/>
          </a:bodyPr>
          <a:lstStyle/>
          <a:p>
            <a:r>
              <a:rPr lang="en-US" altLang="zh-CN" b="1" dirty="0">
                <a:solidFill>
                  <a:srgbClr val="28548E"/>
                </a:solidFill>
                <a:latin typeface="+mj-lt"/>
                <a:sym typeface="+mn-ea"/>
              </a:rPr>
              <a:t>SANY: Establishing an Agile and Efficient Cost Control and Budget Management System with EVOX </a:t>
            </a:r>
            <a:endParaRPr lang="en-US" altLang="zh-CN" b="1" dirty="0">
              <a:solidFill>
                <a:srgbClr val="28548E"/>
              </a:solidFill>
              <a:latin typeface="+mj-lt"/>
            </a:endParaRPr>
          </a:p>
          <a:p>
            <a:endParaRPr lang="en-US" altLang="zh-CN" b="1" dirty="0">
              <a:solidFill>
                <a:srgbClr val="28548E"/>
              </a:solidFill>
              <a:latin typeface="+mj-lt"/>
            </a:endParaRPr>
          </a:p>
        </p:txBody>
      </p:sp>
      <p:sp>
        <p:nvSpPr>
          <p:cNvPr id="16" name="文本框 15"/>
          <p:cNvSpPr txBox="1"/>
          <p:nvPr/>
        </p:nvSpPr>
        <p:spPr>
          <a:xfrm>
            <a:off x="4488815" y="1127760"/>
            <a:ext cx="2176780" cy="1999615"/>
          </a:xfrm>
          <a:prstGeom prst="rect">
            <a:avLst/>
          </a:prstGeom>
          <a:noFill/>
        </p:spPr>
        <p:txBody>
          <a:bodyPr wrap="square" rtlCol="0">
            <a:sp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Sany, a global leader in construction machinery (pump trucks, road machinery, port machinery, mining machinery), opted for EVOX to pursue budget management reform amid expanded scale and refined management needs.</a:t>
            </a:r>
            <a:endParaRPr lang="en-US" altLang="zh-CN" sz="1200"/>
          </a:p>
        </p:txBody>
      </p:sp>
      <p:grpSp>
        <p:nvGrpSpPr>
          <p:cNvPr id="6" name="组合 5"/>
          <p:cNvGrpSpPr/>
          <p:nvPr>
            <p:custDataLst>
              <p:tags r:id="rId2"/>
            </p:custDataLst>
          </p:nvPr>
        </p:nvGrpSpPr>
        <p:grpSpPr>
          <a:xfrm>
            <a:off x="492404" y="3267050"/>
            <a:ext cx="6080760" cy="955040"/>
            <a:chOff x="687521" y="2481945"/>
            <a:chExt cx="6080760" cy="955040"/>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060440" cy="70675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Inconsistent budget preparation across divisions caused misaligned standards.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Disconnected reimbursement systems blocked smooth data flow.</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Poor alignment between applications and reimbursements lacked unified rules.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Managing 50,000+ global employees brought heavy validation demands and multilingual complexity.</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72084" y="4241356"/>
            <a:ext cx="6100445" cy="1263015"/>
            <a:chOff x="687521" y="3308283"/>
            <a:chExt cx="6100445" cy="1263015"/>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841" y="3556568"/>
              <a:ext cx="6080125" cy="1014730"/>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Establish a budget preparation model covering 12 dimensions and over 300 indicators, and achieve uniform preparation standards. </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Establish a unified cost control center for the entire group, forming a closed-loop management process of planning, adjustment, implementation, analysis. </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Deeply integrated with ERP, business travel and expense management platforms, achieving real-time linkage between budget and business operations.</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441960" y="6599555"/>
            <a:ext cx="6030595" cy="2127885"/>
            <a:chOff x="708051" y="4134621"/>
            <a:chExt cx="6963274" cy="1981272"/>
          </a:xfrm>
        </p:grpSpPr>
        <p:sp>
          <p:nvSpPr>
            <p:cNvPr id="13" name="文本框 12"/>
            <p:cNvSpPr txBox="1"/>
            <p:nvPr>
              <p:custDataLst>
                <p:tags r:id="rId9"/>
              </p:custDataLst>
            </p:nvPr>
          </p:nvSpPr>
          <p:spPr>
            <a:xfrm>
              <a:off x="804834" y="4134621"/>
              <a:ext cx="4241991" cy="285573"/>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8051" y="4382945"/>
              <a:ext cx="6963274" cy="1732948"/>
            </a:xfrm>
            <a:prstGeom prst="rect">
              <a:avLst/>
            </a:prstGeom>
            <a:noFill/>
          </p:spPr>
          <p:txBody>
            <a:bodyPr wrap="square" rtlCol="0">
              <a:spAutoFit/>
            </a:bodyPr>
            <a:lstStyle/>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Efficiency Improvement: </a:t>
              </a:r>
              <a:r>
                <a:rPr lang="en-US" altLang="zh-CN" sz="1200" kern="200" dirty="0">
                  <a:solidFill>
                    <a:srgbClr val="3F3B3A"/>
                  </a:solidFill>
                  <a:latin typeface="Calibri" panose="020F0502020204030204" pitchFamily="34" charset="0"/>
                </a:rPr>
                <a:t>Digitalized and intelligent budget management significantly enhanced operational efficiency and cost control.</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Industry Benchmark:</a:t>
              </a:r>
              <a:r>
                <a:rPr lang="en-US" altLang="zh-CN" sz="1200" kern="200" dirty="0">
                  <a:solidFill>
                    <a:srgbClr val="3F3B3A"/>
                  </a:solidFill>
                  <a:latin typeface="Calibri" panose="020F0502020204030204" pitchFamily="34" charset="0"/>
                </a:rPr>
                <a:t> As an early adopter of the EVOX Planning System, Sany set a benchmark for digital transformation in construction machinery, attracting industry peers to learn from its success.</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Smart Integration:</a:t>
              </a:r>
              <a:r>
                <a:rPr lang="en-US" altLang="zh-CN" sz="1200" kern="200" dirty="0">
                  <a:solidFill>
                    <a:srgbClr val="3F3B3A"/>
                  </a:solidFill>
                  <a:latin typeface="Calibri" panose="020F0502020204030204" pitchFamily="34" charset="0"/>
                </a:rPr>
                <a:t> Deeply integrated with Sany’s intelligent manufacturing, providing end-to-end data support from order to delivery and strengthening global competitiveness.</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471805" y="5275580"/>
            <a:ext cx="5875020" cy="1245235"/>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EVOX’s control center perfectly addressed SANY’s budgeting challenges while supporting its smart manufacturing and global growth. With a unified engine, flexible strategies, and strong integration, EVOX enabled efficient, refined management and laid the foundation for future innovation in the era of 5G, AI, and big data.</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41960" y="6558280"/>
            <a:ext cx="6130290" cy="2280285"/>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7" name="图片 16" descr="640"/>
          <p:cNvPicPr>
            <a:picLocks noChangeAspect="1"/>
          </p:cNvPicPr>
          <p:nvPr/>
        </p:nvPicPr>
        <p:blipFill>
          <a:blip r:embed="rId12"/>
          <a:srcRect t="-902" r="48778"/>
          <a:stretch>
            <a:fillRect/>
          </a:stretch>
        </p:blipFill>
        <p:spPr>
          <a:xfrm>
            <a:off x="526415" y="1366520"/>
            <a:ext cx="3790315" cy="1824355"/>
          </a:xfrm>
          <a:prstGeom prst="rect">
            <a:avLst/>
          </a:prstGeom>
        </p:spPr>
      </p:pic>
      <p:sp>
        <p:nvSpPr>
          <p:cNvPr id="20" name="文本框 19"/>
          <p:cNvSpPr txBox="1"/>
          <p:nvPr/>
        </p:nvSpPr>
        <p:spPr>
          <a:xfrm>
            <a:off x="4396105" y="179070"/>
            <a:ext cx="3260090"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Manufacturing</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538480" y="612140"/>
            <a:ext cx="6252845" cy="525780"/>
          </a:xfrm>
          <a:prstGeom prst="rect">
            <a:avLst/>
          </a:prstGeom>
          <a:noFill/>
        </p:spPr>
        <p:txBody>
          <a:bodyPr wrap="square" rtlCol="0">
            <a:noAutofit/>
          </a:bodyPr>
          <a:lstStyle/>
          <a:p>
            <a:r>
              <a:rPr lang="en-US" altLang="zh-CN" b="1" dirty="0">
                <a:solidFill>
                  <a:srgbClr val="28548E"/>
                </a:solidFill>
                <a:latin typeface="+mj-lt"/>
              </a:rPr>
              <a:t>EVOX Empowers Hikvision: </a:t>
            </a:r>
            <a:endParaRPr lang="en-US" altLang="zh-CN" b="1" dirty="0">
              <a:solidFill>
                <a:srgbClr val="28548E"/>
              </a:solidFill>
              <a:latin typeface="+mj-lt"/>
            </a:endParaRPr>
          </a:p>
          <a:p>
            <a:r>
              <a:rPr lang="en-US" altLang="zh-CN" sz="1400" b="1" dirty="0">
                <a:solidFill>
                  <a:srgbClr val="28548E"/>
                </a:solidFill>
                <a:latin typeface="+mj-lt"/>
              </a:rPr>
              <a:t>Financial Budget Optimization and System Upgrade</a:t>
            </a:r>
            <a:endParaRPr lang="en-US" altLang="zh-CN" sz="1400" b="1" dirty="0">
              <a:solidFill>
                <a:srgbClr val="28548E"/>
              </a:solidFill>
              <a:latin typeface="+mj-lt"/>
            </a:endParaRPr>
          </a:p>
        </p:txBody>
      </p:sp>
      <p:sp>
        <p:nvSpPr>
          <p:cNvPr id="16" name="文本框 15"/>
          <p:cNvSpPr txBox="1"/>
          <p:nvPr/>
        </p:nvSpPr>
        <p:spPr>
          <a:xfrm>
            <a:off x="4124960" y="1120775"/>
            <a:ext cx="2261870" cy="1668780"/>
          </a:xfrm>
          <a:prstGeom prst="rect">
            <a:avLst/>
          </a:prstGeom>
          <a:noFill/>
        </p:spPr>
        <p:txBody>
          <a:bodyPr wrap="square" rtlCol="0">
            <a:no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Hikvision is a global leader in IoT solutions with video as its core competency, providing products and solutions for security, smart homes, industrial automation, and automotive electronics.</a:t>
            </a:r>
            <a:endParaRPr lang="en-US" altLang="zh-CN" sz="1200"/>
          </a:p>
        </p:txBody>
      </p:sp>
      <p:grpSp>
        <p:nvGrpSpPr>
          <p:cNvPr id="6" name="组合 5"/>
          <p:cNvGrpSpPr/>
          <p:nvPr>
            <p:custDataLst>
              <p:tags r:id="rId2"/>
            </p:custDataLst>
          </p:nvPr>
        </p:nvGrpSpPr>
        <p:grpSpPr>
          <a:xfrm>
            <a:off x="492404" y="2820645"/>
            <a:ext cx="6155055" cy="955040"/>
            <a:chOff x="687521" y="2481945"/>
            <a:chExt cx="6155055" cy="955040"/>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134735" cy="70675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Budget management complexity increased due to global business expansion.</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Existing system lacked flexibility for multi-level budget control.</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Long budgeting cycle and difficulty in data integration.</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Insufficient linkage between financial planning and strategic goals.</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71805" y="3782060"/>
            <a:ext cx="6154420" cy="1339850"/>
            <a:chOff x="687521" y="3308283"/>
            <a:chExt cx="6256657" cy="1339850"/>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533" y="3556568"/>
              <a:ext cx="6236645" cy="109156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EVOX implemented the second phase of Hikvision’s financial budgeting project, upgrading the budgeting system with:</a:t>
              </a:r>
              <a:endParaRPr lang="en-US" altLang="zh-CN" sz="1000" kern="200" dirty="0">
                <a:solidFill>
                  <a:schemeClr val="tx1"/>
                </a:solidFill>
                <a:latin typeface="Calibri" panose="020F0502020204030204" pitchFamily="34" charset="0"/>
              </a:endParaRPr>
            </a:p>
            <a:p>
              <a:pPr>
                <a:lnSpc>
                  <a:spcPct val="150000"/>
                </a:lnSpc>
              </a:pPr>
              <a:r>
                <a:rPr lang="en-US" altLang="zh-CN" sz="1000" kern="200" dirty="0">
                  <a:solidFill>
                    <a:schemeClr val="tx1"/>
                  </a:solidFill>
                  <a:latin typeface="Calibri" panose="020F0502020204030204" pitchFamily="34" charset="0"/>
                </a:rPr>
                <a:t>- Centralized and intelligent budgeting platform.</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Scenario-based planning and rolling forecasts.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Strengthened data integration between business and finance.</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Enhanced visualization for budget monitoring and control.</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441960" y="6386195"/>
            <a:ext cx="6030595" cy="2569845"/>
            <a:chOff x="708051" y="4134621"/>
            <a:chExt cx="6963274" cy="2392780"/>
          </a:xfrm>
        </p:grpSpPr>
        <p:sp>
          <p:nvSpPr>
            <p:cNvPr id="13" name="文本框 12"/>
            <p:cNvSpPr txBox="1"/>
            <p:nvPr>
              <p:custDataLst>
                <p:tags r:id="rId9"/>
              </p:custDataLst>
            </p:nvPr>
          </p:nvSpPr>
          <p:spPr>
            <a:xfrm>
              <a:off x="804834" y="4134621"/>
              <a:ext cx="4241991" cy="285573"/>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8051" y="4382945"/>
              <a:ext cx="6963274" cy="2144456"/>
            </a:xfrm>
            <a:prstGeom prst="rect">
              <a:avLst/>
            </a:prstGeom>
            <a:noFill/>
          </p:spPr>
          <p:txBody>
            <a:bodyPr wrap="square" rtlCol="0">
              <a:spAutoFit/>
            </a:bodyPr>
            <a:lstStyle/>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Centralized Management:</a:t>
              </a:r>
              <a:r>
                <a:rPr lang="en-US" altLang="zh-CN" sz="1200" kern="200" dirty="0">
                  <a:solidFill>
                    <a:srgbClr val="3F3B3A"/>
                  </a:solidFill>
                  <a:latin typeface="Calibri" panose="020F0502020204030204" pitchFamily="34" charset="0"/>
                </a:rPr>
                <a:t> Unified budgeting and performance platform reduces complexity and fragmentation.</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Faster Decision-Making: </a:t>
              </a:r>
              <a:r>
                <a:rPr lang="en-US" altLang="zh-CN" sz="1200" kern="200" dirty="0">
                  <a:solidFill>
                    <a:srgbClr val="3F3B3A"/>
                  </a:solidFill>
                  <a:latin typeface="Calibri" panose="020F0502020204030204" pitchFamily="34" charset="0"/>
                </a:rPr>
                <a:t>Real-time data access and visualization support timely strategic choices.</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Efficiency Gains:</a:t>
              </a:r>
              <a:r>
                <a:rPr lang="en-US" altLang="zh-CN" sz="1200" kern="200" dirty="0">
                  <a:solidFill>
                    <a:srgbClr val="3F3B3A"/>
                  </a:solidFill>
                  <a:latin typeface="Calibri" panose="020F0502020204030204" pitchFamily="34" charset="0"/>
                </a:rPr>
                <a:t> Shortened budgeting cycles and simplified approval processes improve productivity.</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Strategic Alignment:</a:t>
              </a:r>
              <a:r>
                <a:rPr lang="en-US" altLang="zh-CN" sz="1200" kern="200" dirty="0">
                  <a:solidFill>
                    <a:srgbClr val="3F3B3A"/>
                  </a:solidFill>
                  <a:latin typeface="Calibri" panose="020F0502020204030204" pitchFamily="34" charset="0"/>
                </a:rPr>
                <a:t> Ensures budget planning dynamically links with business goals.</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Collaboration Boost: </a:t>
              </a:r>
              <a:r>
                <a:rPr lang="en-US" altLang="zh-CN" sz="1200" kern="200" dirty="0">
                  <a:solidFill>
                    <a:srgbClr val="3F3B3A"/>
                  </a:solidFill>
                  <a:latin typeface="Calibri" panose="020F0502020204030204" pitchFamily="34" charset="0"/>
                </a:rPr>
                <a:t>Streamlined workflows lower communication costs between departments.</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471805" y="4821555"/>
            <a:ext cx="5875020" cy="1553210"/>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Hikvision chose EVOX because of its extensive expertise in enterprise-level budgeting projects and its deep understanding of the financial management needs of large organizations. EVOX’s ability to integrate budgeting with strategic management, combined with agile delivery model, ensured that Hikvision could achieve both efficiency and flexibility. In addition, EVOX’s proven reputation and commitment to long-term client partnerships gave Hikvision the confidence to select as a trusted partner.</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37515" y="6339205"/>
            <a:ext cx="6134735" cy="2499360"/>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17" name="图片 16"/>
          <p:cNvPicPr>
            <a:picLocks noChangeAspect="1"/>
          </p:cNvPicPr>
          <p:nvPr/>
        </p:nvPicPr>
        <p:blipFill>
          <a:blip r:embed="rId12"/>
          <a:stretch>
            <a:fillRect/>
          </a:stretch>
        </p:blipFill>
        <p:spPr>
          <a:xfrm>
            <a:off x="538480" y="1341755"/>
            <a:ext cx="3343910" cy="1437005"/>
          </a:xfrm>
          <a:prstGeom prst="rect">
            <a:avLst/>
          </a:prstGeom>
        </p:spPr>
      </p:pic>
      <p:sp>
        <p:nvSpPr>
          <p:cNvPr id="19" name="文本框 18"/>
          <p:cNvSpPr txBox="1"/>
          <p:nvPr/>
        </p:nvSpPr>
        <p:spPr>
          <a:xfrm>
            <a:off x="4554855" y="179070"/>
            <a:ext cx="2110105"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rPr>
              <a:t>Hign Tech</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538480" y="612140"/>
            <a:ext cx="6252845" cy="525780"/>
          </a:xfrm>
          <a:prstGeom prst="rect">
            <a:avLst/>
          </a:prstGeom>
          <a:noFill/>
        </p:spPr>
        <p:txBody>
          <a:bodyPr wrap="square" rtlCol="0">
            <a:noAutofit/>
          </a:bodyPr>
          <a:lstStyle/>
          <a:p>
            <a:r>
              <a:rPr lang="en-US" altLang="zh-CN" b="1" dirty="0">
                <a:solidFill>
                  <a:srgbClr val="28548E"/>
                </a:solidFill>
                <a:latin typeface="+mj-lt"/>
              </a:rPr>
              <a:t>EVOX Empowers Zijin Mining: </a:t>
            </a:r>
            <a:endParaRPr lang="en-US" altLang="zh-CN" b="1" dirty="0">
              <a:solidFill>
                <a:srgbClr val="28548E"/>
              </a:solidFill>
              <a:latin typeface="+mj-lt"/>
            </a:endParaRPr>
          </a:p>
          <a:p>
            <a:r>
              <a:rPr lang="en-US" altLang="zh-CN" sz="1400" b="1" dirty="0">
                <a:solidFill>
                  <a:srgbClr val="28548E"/>
                </a:solidFill>
                <a:latin typeface="+mj-lt"/>
              </a:rPr>
              <a:t>Financial Budget Optimization and System Upgrade</a:t>
            </a:r>
            <a:endParaRPr lang="en-US" altLang="zh-CN" sz="1400" b="1" dirty="0">
              <a:solidFill>
                <a:srgbClr val="28548E"/>
              </a:solidFill>
              <a:latin typeface="+mj-lt"/>
            </a:endParaRPr>
          </a:p>
        </p:txBody>
      </p:sp>
      <p:sp>
        <p:nvSpPr>
          <p:cNvPr id="16" name="文本框 15"/>
          <p:cNvSpPr txBox="1"/>
          <p:nvPr/>
        </p:nvSpPr>
        <p:spPr>
          <a:xfrm>
            <a:off x="4110355" y="1044575"/>
            <a:ext cx="2276475" cy="1668780"/>
          </a:xfrm>
          <a:prstGeom prst="rect">
            <a:avLst/>
          </a:prstGeom>
          <a:noFill/>
        </p:spPr>
        <p:txBody>
          <a:bodyPr wrap="square" rtlCol="0">
            <a:no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Zijin Mining is a global leader in metal mining, spanning exploration, development, and technology research, with operations in 15 provinces in China and 15 countries overseas.</a:t>
            </a:r>
            <a:endParaRPr lang="en-US" altLang="zh-CN" sz="1200"/>
          </a:p>
        </p:txBody>
      </p:sp>
      <p:grpSp>
        <p:nvGrpSpPr>
          <p:cNvPr id="6" name="组合 5"/>
          <p:cNvGrpSpPr/>
          <p:nvPr>
            <p:custDataLst>
              <p:tags r:id="rId2"/>
            </p:custDataLst>
          </p:nvPr>
        </p:nvGrpSpPr>
        <p:grpSpPr>
          <a:xfrm>
            <a:off x="492404" y="2861285"/>
            <a:ext cx="6155055" cy="1108710"/>
            <a:chOff x="687521" y="2481945"/>
            <a:chExt cx="6155055" cy="1108710"/>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134735" cy="86042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Complex budgeting due to global, multi-regional operations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Broad coverage: mining, smelting, exploration, R&amp;D, manufacturing</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Lack of multi-language support for subsidiaries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Long budgeting cycles, heavy manual integration, frequent errors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Weak linkage between budget execution and strategy</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71805" y="4039235"/>
            <a:ext cx="6154420" cy="1108710"/>
            <a:chOff x="687521" y="3308283"/>
            <a:chExt cx="6256657" cy="1108710"/>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533" y="3556568"/>
              <a:ext cx="6236645" cy="86042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Unified Platform: Covered exploration, production, procurement, sales, HR, and finance</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Multi-language Support: Chinese, English, Russian, French, Spanish, Serbian</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Process Optimization: Standardized workflows across planning, sales, costs, and expenses</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System Integration: Connected seamlessly with big data and SAP</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 Automation &amp; Analytics: Enabled KPI auto-collection and monthly budget vs. actual analysis</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471805" y="6066790"/>
            <a:ext cx="6030595" cy="2569845"/>
            <a:chOff x="708051" y="4134621"/>
            <a:chExt cx="6963274" cy="2392780"/>
          </a:xfrm>
        </p:grpSpPr>
        <p:sp>
          <p:nvSpPr>
            <p:cNvPr id="13" name="文本框 12"/>
            <p:cNvSpPr txBox="1"/>
            <p:nvPr>
              <p:custDataLst>
                <p:tags r:id="rId9"/>
              </p:custDataLst>
            </p:nvPr>
          </p:nvSpPr>
          <p:spPr>
            <a:xfrm>
              <a:off x="804834" y="4134621"/>
              <a:ext cx="4241991" cy="285573"/>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8051" y="4382945"/>
              <a:ext cx="6963274" cy="2144456"/>
            </a:xfrm>
            <a:prstGeom prst="rect">
              <a:avLst/>
            </a:prstGeom>
            <a:noFill/>
          </p:spPr>
          <p:txBody>
            <a:bodyPr wrap="square" rtlCol="0">
              <a:spAutoFit/>
            </a:bodyPr>
            <a:lstStyle/>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Improved Budgeting Efficiency:</a:t>
              </a:r>
              <a:r>
                <a:rPr lang="en-US" altLang="zh-CN" sz="1200" kern="200" dirty="0">
                  <a:solidFill>
                    <a:srgbClr val="3F3B3A"/>
                  </a:solidFill>
                  <a:latin typeface="Calibri" panose="020F0502020204030204" pitchFamily="34" charset="0"/>
                </a:rPr>
                <a:t> Shortened cycles and more accurate, streamlined processes</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Enhanced Accuracy: </a:t>
              </a:r>
              <a:r>
                <a:rPr lang="en-US" altLang="zh-CN" sz="1200" kern="200" dirty="0">
                  <a:solidFill>
                    <a:srgbClr val="3F3B3A"/>
                  </a:solidFill>
                  <a:latin typeface="Calibri" panose="020F0502020204030204" pitchFamily="34" charset="0"/>
                </a:rPr>
                <a:t>Unified data standards and automated integration with SAP and big data platforms</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Optimized Resource Allocation:</a:t>
              </a:r>
              <a:r>
                <a:rPr lang="en-US" altLang="zh-CN" sz="1200" kern="200" dirty="0">
                  <a:solidFill>
                    <a:srgbClr val="3F3B3A"/>
                  </a:solidFill>
                  <a:latin typeface="Calibri" panose="020F0502020204030204" pitchFamily="34" charset="0"/>
                </a:rPr>
                <a:t> Monthly budget vs. actual analysis enabled dynamic adjustment and better utilization of resources</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Data Value Realization: </a:t>
              </a:r>
              <a:r>
                <a:rPr lang="en-US" altLang="zh-CN" sz="1200" kern="200" dirty="0">
                  <a:solidFill>
                    <a:srgbClr val="3F3B3A"/>
                  </a:solidFill>
                  <a:latin typeface="Calibri" panose="020F0502020204030204" pitchFamily="34" charset="0"/>
                </a:rPr>
                <a:t>Shared data across systems provided powerful insights for strategic decision-making</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i="1" u="sng" kern="200" dirty="0">
                  <a:solidFill>
                    <a:srgbClr val="3F3B3A"/>
                  </a:solidFill>
                  <a:latin typeface="Calibri" panose="020F0502020204030204" pitchFamily="34" charset="0"/>
                </a:rPr>
                <a:t>Lifecycle Management:</a:t>
              </a:r>
              <a:r>
                <a:rPr lang="en-US" altLang="zh-CN" sz="1200" kern="200" dirty="0">
                  <a:solidFill>
                    <a:srgbClr val="3F3B3A"/>
                  </a:solidFill>
                  <a:latin typeface="Calibri" panose="020F0502020204030204" pitchFamily="34" charset="0"/>
                </a:rPr>
                <a:t> Enabled effective management of the entire mining lifecycle, strengthening competitiveness and sustainability</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471805" y="4953635"/>
            <a:ext cx="5875020" cy="937260"/>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Zijin Mining selected EVOX for its proven expertise in large-scale, multinational budgeting projects and its ability to deliver both efficiency and flexibility.</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37515" y="6003290"/>
            <a:ext cx="6134735" cy="2715895"/>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文本框 18"/>
          <p:cNvSpPr txBox="1"/>
          <p:nvPr/>
        </p:nvSpPr>
        <p:spPr>
          <a:xfrm>
            <a:off x="4288397" y="242887"/>
            <a:ext cx="2370772" cy="677545"/>
          </a:xfrm>
          <a:prstGeom prst="rect">
            <a:avLst/>
          </a:prstGeom>
          <a:noFill/>
        </p:spPr>
        <p:txBody>
          <a:bodyPr wrap="square" rtlCol="0">
            <a:noAutofit/>
          </a:bodyPr>
          <a:lstStyle/>
          <a:p>
            <a:r>
              <a:rPr lang="en-US" altLang="zh-CN" sz="2400" b="1" dirty="0">
                <a:ln w="15875"/>
                <a:gradFill>
                  <a:gsLst>
                    <a:gs pos="0">
                      <a:schemeClr val="accent1">
                        <a:hueMod val="80000"/>
                      </a:schemeClr>
                    </a:gs>
                    <a:gs pos="100000">
                      <a:schemeClr val="accent1">
                        <a:alpha val="100000"/>
                        <a:alpha val="100000"/>
                      </a:schemeClr>
                    </a:gs>
                  </a:gsLst>
                  <a:lin ang="2700000" scaled="0"/>
                </a:gradFill>
                <a:latin typeface="+mj-lt"/>
              </a:rPr>
              <a:t>Nature Resources</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pic>
        <p:nvPicPr>
          <p:cNvPr id="20" name="图片 19" descr="紫金矿业"/>
          <p:cNvPicPr>
            <a:picLocks noChangeAspect="1"/>
          </p:cNvPicPr>
          <p:nvPr/>
        </p:nvPicPr>
        <p:blipFill>
          <a:blip r:embed="rId12"/>
          <a:stretch>
            <a:fillRect/>
          </a:stretch>
        </p:blipFill>
        <p:spPr>
          <a:xfrm>
            <a:off x="538480" y="1327785"/>
            <a:ext cx="3298190" cy="143827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客户故事单页"/>
          <p:cNvPicPr>
            <a:picLocks noGrp="1" noChangeAspect="1"/>
          </p:cNvPicPr>
          <p:nvPr>
            <p:ph idx="1"/>
          </p:nvPr>
        </p:nvPicPr>
        <p:blipFill>
          <a:blip r:embed="rId1"/>
          <a:srcRect r="48092"/>
          <a:stretch>
            <a:fillRect/>
          </a:stretch>
        </p:blipFill>
        <p:spPr>
          <a:xfrm>
            <a:off x="0" y="-635"/>
            <a:ext cx="6858635" cy="9906635"/>
          </a:xfrm>
          <a:prstGeom prst="rect">
            <a:avLst/>
          </a:prstGeom>
        </p:spPr>
      </p:pic>
      <p:sp>
        <p:nvSpPr>
          <p:cNvPr id="5" name="文本框 4"/>
          <p:cNvSpPr txBox="1"/>
          <p:nvPr/>
        </p:nvSpPr>
        <p:spPr>
          <a:xfrm>
            <a:off x="555625" y="704850"/>
            <a:ext cx="6252845" cy="525780"/>
          </a:xfrm>
          <a:prstGeom prst="rect">
            <a:avLst/>
          </a:prstGeom>
          <a:noFill/>
        </p:spPr>
        <p:txBody>
          <a:bodyPr wrap="square" rtlCol="0">
            <a:noAutofit/>
          </a:bodyPr>
          <a:lstStyle/>
          <a:p>
            <a:r>
              <a:rPr lang="en-US" altLang="zh-CN" b="1" dirty="0">
                <a:solidFill>
                  <a:srgbClr val="28548E"/>
                </a:solidFill>
                <a:latin typeface="+mj-lt"/>
              </a:rPr>
              <a:t>Botanee Group Budget Management Digital Transformation</a:t>
            </a:r>
            <a:endParaRPr lang="en-US" altLang="zh-CN" sz="1400" b="1" dirty="0">
              <a:solidFill>
                <a:srgbClr val="28548E"/>
              </a:solidFill>
              <a:latin typeface="+mj-lt"/>
            </a:endParaRPr>
          </a:p>
        </p:txBody>
      </p:sp>
      <p:sp>
        <p:nvSpPr>
          <p:cNvPr id="16" name="文本框 15"/>
          <p:cNvSpPr txBox="1"/>
          <p:nvPr/>
        </p:nvSpPr>
        <p:spPr>
          <a:xfrm>
            <a:off x="4070985" y="1123315"/>
            <a:ext cx="2555240" cy="1668780"/>
          </a:xfrm>
          <a:prstGeom prst="rect">
            <a:avLst/>
          </a:prstGeom>
          <a:noFill/>
        </p:spPr>
        <p:txBody>
          <a:bodyPr wrap="square" rtlCol="0">
            <a:noAutofit/>
          </a:bodyPr>
          <a:lstStyle/>
          <a:p>
            <a:pPr>
              <a:lnSpc>
                <a:spcPct val="200000"/>
              </a:lnSpc>
            </a:pPr>
            <a:r>
              <a:rPr lang="en-US" altLang="zh-CN" sz="1400" kern="200" dirty="0">
                <a:solidFill>
                  <a:srgbClr val="50B1A2"/>
                </a:solidFill>
                <a:latin typeface="Calibri" panose="020F0502020204030204" pitchFamily="34" charset="0"/>
                <a:sym typeface="+mn-ea"/>
              </a:rPr>
              <a:t>Customer Profile</a:t>
            </a:r>
            <a:endParaRPr lang="en-US" altLang="zh-CN" sz="1400" kern="200" dirty="0">
              <a:solidFill>
                <a:srgbClr val="50B1A2"/>
              </a:solidFill>
              <a:latin typeface="Calibri" panose="020F0502020204030204" pitchFamily="34" charset="0"/>
              <a:sym typeface="+mn-ea"/>
            </a:endParaRPr>
          </a:p>
          <a:p>
            <a:pPr algn="just"/>
            <a:r>
              <a:rPr lang="en-US" altLang="zh-CN" sz="1200"/>
              <a:t>Botanee Group (Winona parent company) leads in big health, with R&amp;D, production, marketing, and supply chain operations. Needs digital budget management for multi-brand/business line growth.</a:t>
            </a:r>
            <a:endParaRPr lang="en-US" altLang="zh-CN" sz="1200"/>
          </a:p>
        </p:txBody>
      </p:sp>
      <p:grpSp>
        <p:nvGrpSpPr>
          <p:cNvPr id="6" name="组合 5"/>
          <p:cNvGrpSpPr/>
          <p:nvPr>
            <p:custDataLst>
              <p:tags r:id="rId2"/>
            </p:custDataLst>
          </p:nvPr>
        </p:nvGrpSpPr>
        <p:grpSpPr>
          <a:xfrm>
            <a:off x="492404" y="2861285"/>
            <a:ext cx="6155055" cy="955040"/>
            <a:chOff x="687521" y="2481945"/>
            <a:chExt cx="6155055" cy="955040"/>
          </a:xfrm>
        </p:grpSpPr>
        <p:sp>
          <p:nvSpPr>
            <p:cNvPr id="7" name="文本框 6"/>
            <p:cNvSpPr txBox="1"/>
            <p:nvPr>
              <p:custDataLst>
                <p:tags r:id="rId3"/>
              </p:custDataLst>
            </p:nvPr>
          </p:nvSpPr>
          <p:spPr>
            <a:xfrm>
              <a:off x="687521" y="2481945"/>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Challenges</a:t>
              </a:r>
              <a:endParaRPr lang="en-US" altLang="zh-CN" sz="1400" kern="200" dirty="0">
                <a:solidFill>
                  <a:srgbClr val="50B1A2"/>
                </a:solidFill>
                <a:latin typeface="Calibri" panose="020F0502020204030204" pitchFamily="34" charset="0"/>
              </a:endParaRPr>
            </a:p>
          </p:txBody>
        </p:sp>
        <p:sp>
          <p:nvSpPr>
            <p:cNvPr id="8" name="文本框 7"/>
            <p:cNvSpPr txBox="1"/>
            <p:nvPr>
              <p:custDataLst>
                <p:tags r:id="rId4"/>
              </p:custDataLst>
            </p:nvPr>
          </p:nvSpPr>
          <p:spPr>
            <a:xfrm>
              <a:off x="707841" y="2730230"/>
              <a:ext cx="6134735" cy="70675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 Unstandardized budget data, fragmented systems, misaligned business-finance metrics.</a:t>
              </a:r>
              <a:endParaRPr lang="en-US" altLang="zh-CN" sz="1000" kern="200" dirty="0">
                <a:solidFill>
                  <a:schemeClr val="tx1"/>
                </a:solidFill>
                <a:latin typeface="Calibri" panose="020F0502020204030204" pitchFamily="34" charset="0"/>
              </a:endParaRPr>
            </a:p>
            <a:p>
              <a:r>
                <a:rPr lang="en-US" altLang="zh-CN" sz="1000" kern="200" dirty="0">
                  <a:latin typeface="Calibri" panose="020F0502020204030204" pitchFamily="34" charset="0"/>
                  <a:sym typeface="+mn-ea"/>
                </a:rPr>
                <a:t>- </a:t>
              </a:r>
              <a:r>
                <a:rPr lang="en-US" altLang="zh-CN" sz="1000" kern="200" dirty="0">
                  <a:solidFill>
                    <a:schemeClr val="tx1"/>
                  </a:solidFill>
                  <a:latin typeface="Calibri" panose="020F0502020204030204" pitchFamily="34" charset="0"/>
                </a:rPr>
                <a:t>Manual budgeting, low inter-departmental collaboration, limited refined planning.</a:t>
              </a:r>
              <a:endParaRPr lang="en-US" altLang="zh-CN" sz="1000" kern="200" dirty="0">
                <a:solidFill>
                  <a:schemeClr val="tx1"/>
                </a:solidFill>
                <a:latin typeface="Calibri" panose="020F0502020204030204" pitchFamily="34" charset="0"/>
              </a:endParaRPr>
            </a:p>
            <a:p>
              <a:r>
                <a:rPr lang="en-US" altLang="zh-CN" sz="1000" kern="200" dirty="0">
                  <a:latin typeface="Calibri" panose="020F0502020204030204" pitchFamily="34" charset="0"/>
                  <a:sym typeface="+mn-ea"/>
                </a:rPr>
                <a:t>- </a:t>
              </a:r>
              <a:r>
                <a:rPr lang="en-US" altLang="zh-CN" sz="1000" kern="200" dirty="0">
                  <a:solidFill>
                    <a:schemeClr val="tx1"/>
                  </a:solidFill>
                  <a:latin typeface="Calibri" panose="020F0502020204030204" pitchFamily="34" charset="0"/>
                </a:rPr>
                <a:t>Disconnected budget control, slow budget-actual analysis, lagging business response.</a:t>
              </a:r>
              <a:endParaRPr lang="en-US" altLang="zh-CN" sz="1000" kern="200" dirty="0">
                <a:solidFill>
                  <a:schemeClr val="tx1"/>
                </a:solidFill>
                <a:latin typeface="Calibri" panose="020F0502020204030204" pitchFamily="34" charset="0"/>
              </a:endParaRPr>
            </a:p>
            <a:p>
              <a:r>
                <a:rPr lang="en-US" altLang="zh-CN" sz="1000" kern="200" dirty="0">
                  <a:latin typeface="Calibri" panose="020F0502020204030204" pitchFamily="34" charset="0"/>
                  <a:sym typeface="+mn-ea"/>
                </a:rPr>
                <a:t>- </a:t>
              </a:r>
              <a:r>
                <a:rPr lang="en-US" altLang="zh-CN" sz="1000" kern="200" dirty="0">
                  <a:solidFill>
                    <a:schemeClr val="tx1"/>
                  </a:solidFill>
                  <a:latin typeface="Calibri" panose="020F0502020204030204" pitchFamily="34" charset="0"/>
                </a:rPr>
                <a:t>Multi-division/brand coordination issues, inaccurate resource allocation.</a:t>
              </a:r>
              <a:endParaRPr lang="en-US" altLang="zh-CN" sz="1000" kern="200" dirty="0">
                <a:solidFill>
                  <a:schemeClr val="tx1"/>
                </a:solidFill>
                <a:latin typeface="Calibri" panose="020F0502020204030204" pitchFamily="34" charset="0"/>
              </a:endParaRPr>
            </a:p>
          </p:txBody>
        </p:sp>
      </p:grpSp>
      <p:grpSp>
        <p:nvGrpSpPr>
          <p:cNvPr id="9" name="组合 8"/>
          <p:cNvGrpSpPr/>
          <p:nvPr>
            <p:custDataLst>
              <p:tags r:id="rId5"/>
            </p:custDataLst>
          </p:nvPr>
        </p:nvGrpSpPr>
        <p:grpSpPr>
          <a:xfrm>
            <a:off x="471805" y="4039235"/>
            <a:ext cx="6154420" cy="955040"/>
            <a:chOff x="687521" y="3308283"/>
            <a:chExt cx="6256657" cy="955040"/>
          </a:xfrm>
        </p:grpSpPr>
        <p:sp>
          <p:nvSpPr>
            <p:cNvPr id="10" name="文本框 9"/>
            <p:cNvSpPr txBox="1"/>
            <p:nvPr>
              <p:custDataLst>
                <p:tags r:id="rId6"/>
              </p:custDataLst>
            </p:nvPr>
          </p:nvSpPr>
          <p:spPr>
            <a:xfrm>
              <a:off x="687521" y="3308283"/>
              <a:ext cx="4241991" cy="306705"/>
            </a:xfrm>
            <a:prstGeom prst="rect">
              <a:avLst/>
            </a:prstGeom>
            <a:noFill/>
          </p:spPr>
          <p:txBody>
            <a:bodyPr wrap="square" rtlCol="0">
              <a:spAutoFit/>
            </a:bodyPr>
            <a:lstStyle/>
            <a:p>
              <a:r>
                <a:rPr lang="en-US" altLang="zh-CN" sz="1400" kern="200" dirty="0">
                  <a:solidFill>
                    <a:srgbClr val="50B1A2"/>
                  </a:solidFill>
                  <a:latin typeface="Calibri" panose="020F0502020204030204" pitchFamily="34" charset="0"/>
                </a:rPr>
                <a:t>EVOX Solution Highlights</a:t>
              </a:r>
              <a:endParaRPr lang="en-US" altLang="zh-CN" sz="1400" kern="200" dirty="0">
                <a:solidFill>
                  <a:srgbClr val="50B1A2"/>
                </a:solidFill>
                <a:latin typeface="Calibri" panose="020F0502020204030204" pitchFamily="34" charset="0"/>
              </a:endParaRPr>
            </a:p>
          </p:txBody>
        </p:sp>
        <p:sp>
          <p:nvSpPr>
            <p:cNvPr id="11" name="文本框 10"/>
            <p:cNvSpPr txBox="1"/>
            <p:nvPr>
              <p:custDataLst>
                <p:tags r:id="rId7"/>
              </p:custDataLst>
            </p:nvPr>
          </p:nvSpPr>
          <p:spPr>
            <a:xfrm>
              <a:off x="707533" y="3556568"/>
              <a:ext cx="6236645" cy="706755"/>
            </a:xfrm>
            <a:prstGeom prst="rect">
              <a:avLst/>
            </a:prstGeom>
            <a:noFill/>
          </p:spPr>
          <p:txBody>
            <a:bodyPr wrap="square" rtlCol="0">
              <a:spAutoFit/>
            </a:bodyPr>
            <a:lstStyle/>
            <a:p>
              <a:r>
                <a:rPr lang="en-US" altLang="zh-CN" sz="1000" kern="200" dirty="0">
                  <a:solidFill>
                    <a:schemeClr val="tx1"/>
                  </a:solidFill>
                  <a:latin typeface="Calibri" panose="020F0502020204030204" pitchFamily="34" charset="0"/>
                </a:rPr>
                <a:t>-Multi-dimensional master data: Classified management, MDM-business system integration.</a:t>
              </a:r>
              <a:endParaRPr lang="en-US" altLang="zh-CN" sz="1000" kern="200" dirty="0">
                <a:solidFill>
                  <a:schemeClr val="tx1"/>
                </a:solidFill>
                <a:latin typeface="Calibri" panose="020F0502020204030204" pitchFamily="34" charset="0"/>
              </a:endParaRPr>
            </a:p>
            <a:p>
              <a:r>
                <a:rPr lang="en-US" altLang="zh-CN" sz="1000" kern="200" dirty="0">
                  <a:latin typeface="Calibri" panose="020F0502020204030204" pitchFamily="34" charset="0"/>
                  <a:sym typeface="+mn-ea"/>
                </a:rPr>
                <a:t>- </a:t>
              </a:r>
              <a:r>
                <a:rPr lang="en-US" altLang="zh-CN" sz="1000" kern="200" dirty="0">
                  <a:solidFill>
                    <a:schemeClr val="tx1"/>
                  </a:solidFill>
                  <a:latin typeface="Calibri" panose="020F0502020204030204" pitchFamily="34" charset="0"/>
                </a:rPr>
                <a:t>Automated budgeting: 9 modules covered, "two-down two-up" workflow enabled.</a:t>
              </a:r>
              <a:endParaRPr lang="en-US" altLang="zh-CN" sz="1000" kern="200" dirty="0">
                <a:solidFill>
                  <a:schemeClr val="tx1"/>
                </a:solidFill>
                <a:latin typeface="Calibri" panose="020F0502020204030204" pitchFamily="34" charset="0"/>
              </a:endParaRPr>
            </a:p>
            <a:p>
              <a:r>
                <a:rPr lang="en-US" altLang="zh-CN" sz="1000" kern="200" dirty="0">
                  <a:latin typeface="Calibri" panose="020F0502020204030204" pitchFamily="34" charset="0"/>
                  <a:sym typeface="+mn-ea"/>
                </a:rPr>
                <a:t>- </a:t>
              </a:r>
              <a:r>
                <a:rPr lang="en-US" altLang="zh-CN" sz="1000" kern="200" dirty="0">
                  <a:solidFill>
                    <a:schemeClr val="tx1"/>
                  </a:solidFill>
                  <a:latin typeface="Calibri" panose="020F0502020204030204" pitchFamily="34" charset="0"/>
                </a:rPr>
                <a:t>Flexible-rigid control: Cross-system full-node control, agile budget adjustment.</a:t>
              </a:r>
              <a:endParaRPr lang="en-US" altLang="zh-CN" sz="1000" kern="200" dirty="0">
                <a:solidFill>
                  <a:schemeClr val="tx1"/>
                </a:solidFill>
                <a:latin typeface="Calibri" panose="020F0502020204030204" pitchFamily="34" charset="0"/>
              </a:endParaRPr>
            </a:p>
            <a:p>
              <a:r>
                <a:rPr lang="en-US" altLang="zh-CN" sz="1000" kern="200" dirty="0">
                  <a:latin typeface="Calibri" panose="020F0502020204030204" pitchFamily="34" charset="0"/>
                  <a:sym typeface="+mn-ea"/>
                </a:rPr>
                <a:t>- </a:t>
              </a:r>
              <a:r>
                <a:rPr lang="en-US" altLang="zh-CN" sz="1000" kern="200" dirty="0">
                  <a:solidFill>
                    <a:schemeClr val="tx1"/>
                  </a:solidFill>
                  <a:latin typeface="Calibri" panose="020F0502020204030204" pitchFamily="34" charset="0"/>
                </a:rPr>
                <a:t>Smart analytics: Multi-dimensional analysis + quarterly rolling forecasts for fast decisions.</a:t>
              </a:r>
              <a:endParaRPr lang="en-US" altLang="zh-CN" sz="1000" kern="200" dirty="0">
                <a:solidFill>
                  <a:schemeClr val="tx1"/>
                </a:solidFill>
                <a:latin typeface="Calibri" panose="020F0502020204030204" pitchFamily="34" charset="0"/>
              </a:endParaRPr>
            </a:p>
          </p:txBody>
        </p:sp>
      </p:grpSp>
      <p:grpSp>
        <p:nvGrpSpPr>
          <p:cNvPr id="12" name="组合 11"/>
          <p:cNvGrpSpPr/>
          <p:nvPr>
            <p:custDataLst>
              <p:tags r:id="rId8"/>
            </p:custDataLst>
          </p:nvPr>
        </p:nvGrpSpPr>
        <p:grpSpPr>
          <a:xfrm>
            <a:off x="555625" y="6282690"/>
            <a:ext cx="6030595" cy="2127884"/>
            <a:chOff x="708051" y="4134621"/>
            <a:chExt cx="6963274" cy="1981271"/>
          </a:xfrm>
        </p:grpSpPr>
        <p:sp>
          <p:nvSpPr>
            <p:cNvPr id="13" name="文本框 12"/>
            <p:cNvSpPr txBox="1"/>
            <p:nvPr>
              <p:custDataLst>
                <p:tags r:id="rId9"/>
              </p:custDataLst>
            </p:nvPr>
          </p:nvSpPr>
          <p:spPr>
            <a:xfrm>
              <a:off x="804834" y="4134621"/>
              <a:ext cx="4241991" cy="285573"/>
            </a:xfrm>
            <a:prstGeom prst="rect">
              <a:avLst/>
            </a:prstGeom>
            <a:noFill/>
          </p:spPr>
          <p:txBody>
            <a:bodyPr wrap="square" rtlCol="0">
              <a:spAutoFit/>
            </a:bodyPr>
            <a:lstStyle/>
            <a:p>
              <a:r>
                <a:rPr lang="en-US" altLang="zh-CN" sz="1400" b="1" kern="200" dirty="0">
                  <a:solidFill>
                    <a:srgbClr val="50B1A2"/>
                  </a:solidFill>
                  <a:latin typeface="Calibri" panose="020F0502020204030204" pitchFamily="34" charset="0"/>
                </a:rPr>
                <a:t>Benefits</a:t>
              </a:r>
              <a:endParaRPr lang="en-US" altLang="zh-CN" sz="1400" b="1" kern="200" dirty="0">
                <a:solidFill>
                  <a:srgbClr val="50B1A2"/>
                </a:solidFill>
                <a:latin typeface="Calibri" panose="020F0502020204030204" pitchFamily="34" charset="0"/>
              </a:endParaRPr>
            </a:p>
          </p:txBody>
        </p:sp>
        <p:sp>
          <p:nvSpPr>
            <p:cNvPr id="14" name="文本框 13"/>
            <p:cNvSpPr txBox="1"/>
            <p:nvPr>
              <p:custDataLst>
                <p:tags r:id="rId10"/>
              </p:custDataLst>
            </p:nvPr>
          </p:nvSpPr>
          <p:spPr>
            <a:xfrm>
              <a:off x="708051" y="4382945"/>
              <a:ext cx="6963274" cy="1732947"/>
            </a:xfrm>
            <a:prstGeom prst="rect">
              <a:avLst/>
            </a:prstGeom>
            <a:noFill/>
          </p:spPr>
          <p:txBody>
            <a:bodyPr wrap="square" rtlCol="0">
              <a:spAutoFit/>
            </a:bodyPr>
            <a:lstStyle/>
            <a:p>
              <a:pPr marL="182245" indent="-171450" algn="l">
                <a:lnSpc>
                  <a:spcPct val="120000"/>
                </a:lnSpc>
                <a:spcBef>
                  <a:spcPts val="0"/>
                </a:spcBef>
                <a:spcAft>
                  <a:spcPts val="0"/>
                </a:spcAft>
                <a:buFont typeface="Arial" panose="020B0604020202020204" pitchFamily="34" charset="0"/>
                <a:buChar char="•"/>
              </a:pPr>
              <a:r>
                <a:rPr lang="en-US" altLang="zh-CN" sz="1200" b="1" u="sng" kern="200" dirty="0">
                  <a:solidFill>
                    <a:srgbClr val="3F3B3A"/>
                  </a:solidFill>
                  <a:latin typeface="Calibri" panose="020F0502020204030204" pitchFamily="34" charset="0"/>
                </a:rPr>
                <a:t>Budget Preparation Efficiency Improved</a:t>
              </a:r>
              <a:r>
                <a:rPr lang="en-US" altLang="zh-CN" sz="1200" kern="200" dirty="0">
                  <a:solidFill>
                    <a:srgbClr val="3F3B3A"/>
                  </a:solidFill>
                  <a:latin typeface="Calibri" panose="020F0502020204030204" pitchFamily="34" charset="0"/>
                </a:rPr>
                <a:t>: Inter-departmental collaboration efficiency increased by more than 60%, significantly shortening the preparation cycle.</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u="sng" kern="200" dirty="0">
                  <a:solidFill>
                    <a:srgbClr val="3F3B3A"/>
                  </a:solidFill>
                  <a:latin typeface="Calibri" panose="020F0502020204030204" pitchFamily="34" charset="0"/>
                </a:rPr>
                <a:t>Master Data Quality Optimized</a:t>
              </a:r>
              <a:r>
                <a:rPr lang="en-US" altLang="zh-CN" sz="1200" kern="200" dirty="0">
                  <a:solidFill>
                    <a:srgbClr val="3F3B3A"/>
                  </a:solidFill>
                  <a:latin typeface="Calibri" panose="020F0502020204030204" pitchFamily="34" charset="0"/>
                </a:rPr>
                <a:t>: Standardization rate reaches 95%, significantly improving data accuracy and business adaptability.</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u="sng" kern="200" dirty="0">
                  <a:solidFill>
                    <a:srgbClr val="3F3B3A"/>
                  </a:solidFill>
                  <a:latin typeface="Calibri" panose="020F0502020204030204" pitchFamily="34" charset="0"/>
                </a:rPr>
                <a:t>Full Coverage of Budget Control</a:t>
              </a:r>
              <a:r>
                <a:rPr lang="en-US" altLang="zh-CN" sz="1200" kern="200" dirty="0">
                  <a:solidFill>
                    <a:srgbClr val="3F3B3A"/>
                  </a:solidFill>
                  <a:latin typeface="Calibri" panose="020F0502020204030204" pitchFamily="34" charset="0"/>
                </a:rPr>
                <a:t>: Achieves 100% end-to-end traceability and monitorability, reducing control risks.</a:t>
              </a:r>
              <a:endParaRPr lang="en-US" altLang="zh-CN" sz="1200" kern="200" dirty="0">
                <a:solidFill>
                  <a:srgbClr val="3F3B3A"/>
                </a:solidFill>
                <a:latin typeface="Calibri" panose="020F0502020204030204" pitchFamily="34" charset="0"/>
              </a:endParaRPr>
            </a:p>
            <a:p>
              <a:pPr marL="182245" indent="-171450" algn="l">
                <a:lnSpc>
                  <a:spcPct val="120000"/>
                </a:lnSpc>
                <a:spcBef>
                  <a:spcPts val="0"/>
                </a:spcBef>
                <a:spcAft>
                  <a:spcPts val="0"/>
                </a:spcAft>
                <a:buFont typeface="Arial" panose="020B0604020202020204" pitchFamily="34" charset="0"/>
                <a:buChar char="•"/>
              </a:pPr>
              <a:r>
                <a:rPr lang="en-US" altLang="zh-CN" sz="1200" b="1" u="sng" kern="200" dirty="0">
                  <a:solidFill>
                    <a:srgbClr val="3F3B3A"/>
                  </a:solidFill>
                  <a:latin typeface="Calibri" panose="020F0502020204030204" pitchFamily="34" charset="0"/>
                </a:rPr>
                <a:t>Decision Response Accelerated</a:t>
              </a:r>
              <a:r>
                <a:rPr lang="en-US" altLang="zh-CN" sz="1200" kern="200" dirty="0">
                  <a:solidFill>
                    <a:srgbClr val="3F3B3A"/>
                  </a:solidFill>
                  <a:latin typeface="Calibri" panose="020F0502020204030204" pitchFamily="34" charset="0"/>
                </a:rPr>
                <a:t>: Resource adjustment and decision response speed increased by 3 times, enabling precise resource allocation.</a:t>
              </a:r>
              <a:endParaRPr lang="en-US" altLang="zh-CN" sz="1200" kern="200" dirty="0">
                <a:solidFill>
                  <a:srgbClr val="3F3B3A"/>
                </a:solidFill>
                <a:latin typeface="Calibri" panose="020F0502020204030204" pitchFamily="34" charset="0"/>
              </a:endParaRPr>
            </a:p>
          </p:txBody>
        </p:sp>
      </p:grpSp>
      <p:sp>
        <p:nvSpPr>
          <p:cNvPr id="15" name="文本框 14"/>
          <p:cNvSpPr txBox="1"/>
          <p:nvPr>
            <p:custDataLst>
              <p:tags r:id="rId11"/>
            </p:custDataLst>
          </p:nvPr>
        </p:nvSpPr>
        <p:spPr>
          <a:xfrm>
            <a:off x="492125" y="4871085"/>
            <a:ext cx="5875020" cy="937260"/>
          </a:xfrm>
          <a:prstGeom prst="rect">
            <a:avLst/>
          </a:prstGeom>
          <a:noFill/>
        </p:spPr>
        <p:txBody>
          <a:bodyPr wrap="square" rtlCol="0">
            <a:spAutoFit/>
          </a:bodyPr>
          <a:lstStyle/>
          <a:p>
            <a:pPr>
              <a:lnSpc>
                <a:spcPct val="250000"/>
              </a:lnSpc>
            </a:pPr>
            <a:r>
              <a:rPr lang="en-US" altLang="zh-CN" sz="1400" kern="200" dirty="0">
                <a:solidFill>
                  <a:srgbClr val="50B1A2"/>
                </a:solidFill>
                <a:latin typeface="Calibri" panose="020F0502020204030204" pitchFamily="34" charset="0"/>
              </a:rPr>
              <a:t>Why EVOX?</a:t>
            </a:r>
            <a:endParaRPr lang="en-US" altLang="zh-CN" sz="1000" kern="200" dirty="0">
              <a:solidFill>
                <a:schemeClr val="tx1"/>
              </a:solidFill>
              <a:latin typeface="Calibri" panose="020F0502020204030204" pitchFamily="34" charset="0"/>
            </a:endParaRPr>
          </a:p>
          <a:p>
            <a:r>
              <a:rPr lang="en-US" altLang="zh-CN" sz="1000" kern="200" dirty="0">
                <a:solidFill>
                  <a:schemeClr val="tx1"/>
                </a:solidFill>
                <a:latin typeface="Calibri" panose="020F0502020204030204" pitchFamily="34" charset="0"/>
              </a:rPr>
              <a:t>EVOX tailors to Botanee’s scenarios, delivering a strategy-driven, data-powered closed-loop budget system. It breaks information silos, enabling digital transformation in the big health sector.</a:t>
            </a:r>
            <a:endParaRPr lang="en-US" altLang="zh-CN" sz="1000" kern="200" dirty="0">
              <a:solidFill>
                <a:schemeClr val="tx1"/>
              </a:solidFill>
              <a:latin typeface="Calibri" panose="020F0502020204030204" pitchFamily="34" charset="0"/>
            </a:endParaRPr>
          </a:p>
        </p:txBody>
      </p:sp>
      <p:sp>
        <p:nvSpPr>
          <p:cNvPr id="18" name="圆角矩形 17"/>
          <p:cNvSpPr/>
          <p:nvPr/>
        </p:nvSpPr>
        <p:spPr>
          <a:xfrm>
            <a:off x="437515" y="6003290"/>
            <a:ext cx="6134735" cy="2715895"/>
          </a:xfrm>
          <a:prstGeom prst="roundRect">
            <a:avLst/>
          </a:prstGeom>
          <a:noFill/>
          <a:ln w="38100">
            <a:solidFill>
              <a:srgbClr val="50B1A2"/>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9" name="文本框 18"/>
          <p:cNvSpPr txBox="1"/>
          <p:nvPr/>
        </p:nvSpPr>
        <p:spPr>
          <a:xfrm>
            <a:off x="4554855" y="179070"/>
            <a:ext cx="2110105" cy="431165"/>
          </a:xfrm>
          <a:prstGeom prst="rect">
            <a:avLst/>
          </a:prstGeom>
          <a:noFill/>
        </p:spPr>
        <p:txBody>
          <a:bodyPr wrap="square" rtlCol="0">
            <a:noAutofit/>
          </a:bodyPr>
          <a:lstStyle/>
          <a:p>
            <a:r>
              <a:rPr lang="en-US" altLang="zh-CN" sz="2400" b="1">
                <a:ln w="15875"/>
                <a:gradFill>
                  <a:gsLst>
                    <a:gs pos="0">
                      <a:schemeClr val="accent1">
                        <a:hueMod val="80000"/>
                      </a:schemeClr>
                    </a:gs>
                    <a:gs pos="100000">
                      <a:schemeClr val="accent1">
                        <a:alpha val="100000"/>
                        <a:alpha val="100000"/>
                      </a:schemeClr>
                    </a:gs>
                  </a:gsLst>
                  <a:lin ang="2700000" scaled="0"/>
                </a:gradFill>
                <a:effectLst/>
                <a:latin typeface="+mj-lt"/>
              </a:rPr>
              <a:t>Manufacturing</a:t>
            </a:r>
            <a:endParaRPr lang="en-US" altLang="zh-CN" sz="2400" b="1" dirty="0">
              <a:ln w="15875"/>
              <a:gradFill>
                <a:gsLst>
                  <a:gs pos="0">
                    <a:schemeClr val="accent1">
                      <a:hueMod val="80000"/>
                    </a:schemeClr>
                  </a:gs>
                  <a:gs pos="100000">
                    <a:schemeClr val="accent1">
                      <a:alpha val="100000"/>
                      <a:alpha val="100000"/>
                    </a:schemeClr>
                  </a:gs>
                </a:gsLst>
                <a:lin ang="2700000" scaled="0"/>
              </a:gradFill>
              <a:effectLst/>
              <a:latin typeface="+mj-lt"/>
            </a:endParaRPr>
          </a:p>
        </p:txBody>
      </p:sp>
      <p:pic>
        <p:nvPicPr>
          <p:cNvPr id="20" name="图片 19" descr="紫金矿业"/>
          <p:cNvPicPr>
            <a:picLocks noChangeAspect="1"/>
          </p:cNvPicPr>
          <p:nvPr/>
        </p:nvPicPr>
        <p:blipFill>
          <a:blip r:embed="rId12"/>
          <a:stretch>
            <a:fillRect/>
          </a:stretch>
        </p:blipFill>
        <p:spPr>
          <a:xfrm>
            <a:off x="538480" y="1327785"/>
            <a:ext cx="3298190" cy="1438275"/>
          </a:xfrm>
          <a:prstGeom prst="rect">
            <a:avLst/>
          </a:prstGeom>
        </p:spPr>
      </p:pic>
      <p:pic>
        <p:nvPicPr>
          <p:cNvPr id="3" name="图片 2"/>
          <p:cNvPicPr>
            <a:picLocks noChangeAspect="1"/>
          </p:cNvPicPr>
          <p:nvPr/>
        </p:nvPicPr>
        <p:blipFill>
          <a:blip r:embed="rId13"/>
          <a:stretch>
            <a:fillRect/>
          </a:stretch>
        </p:blipFill>
        <p:spPr>
          <a:xfrm>
            <a:off x="538480" y="1327785"/>
            <a:ext cx="3298825" cy="1436370"/>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44.32307086614173,&quot;left&quot;:47.871968503937026,&quot;top&quot;:342.95,&quot;width&quot;:462.47803149606295}"/>
</p:tagLst>
</file>

<file path=ppt/tags/tag2.xml><?xml version="1.0" encoding="utf-8"?>
<p:tagLst xmlns:p="http://schemas.openxmlformats.org/presentationml/2006/main">
  <p:tag name="KSO_WM_DIAGRAM_VIRTUALLY_FRAME" val="{&quot;height&quot;:344.32307086614173,&quot;left&quot;:47.871968503937026,&quot;top&quot;:342.95,&quot;width&quot;:462.47803149606295}"/>
</p:tagLst>
</file>

<file path=ppt/tags/tag3.xml><?xml version="1.0" encoding="utf-8"?>
<p:tagLst xmlns:p="http://schemas.openxmlformats.org/presentationml/2006/main">
  <p:tag name="KSO_WM_DIAGRAM_VIRTUALLY_FRAME" val="{&quot;height&quot;:344.32307086614173,&quot;left&quot;:47.871968503937026,&quot;top&quot;:342.95,&quot;width&quot;:462.47803149606295}"/>
</p:tagLst>
</file>

<file path=ppt/tags/tag4.xml><?xml version="1.0" encoding="utf-8"?>
<p:tagLst xmlns:p="http://schemas.openxmlformats.org/presentationml/2006/main">
  <p:tag name="KSO_WM_DIAGRAM_VIRTUALLY_FRAME" val="{&quot;height&quot;:344.32307086614173,&quot;left&quot;:47.871968503937026,&quot;top&quot;:342.95,&quot;width&quot;:462.47803149606295}"/>
</p:tagLst>
</file>

<file path=ppt/tags/tag5.xml><?xml version="1.0" encoding="utf-8"?>
<p:tagLst xmlns:p="http://schemas.openxmlformats.org/presentationml/2006/main">
  <p:tag name="KSO_WM_DIAGRAM_VIRTUALLY_FRAME" val="{&quot;height&quot;:344.32307086614173,&quot;left&quot;:47.871968503937026,&quot;top&quot;:342.95,&quot;width&quot;:462.47803149606295}"/>
</p:tagLst>
</file>

<file path=ppt/tags/tag6.xml><?xml version="1.0" encoding="utf-8"?>
<p:tagLst xmlns:p="http://schemas.openxmlformats.org/presentationml/2006/main">
  <p:tag name="KSO_WM_DIAGRAM_VIRTUALLY_FRAME" val="{&quot;height&quot;:344.32307086614173,&quot;left&quot;:47.871968503937026,&quot;top&quot;:342.95,&quot;width&quot;:462.47803149606295}"/>
</p:tagLst>
</file>

<file path=ppt/tags/tag7.xml><?xml version="1.0" encoding="utf-8"?>
<p:tagLst xmlns:p="http://schemas.openxmlformats.org/presentationml/2006/main">
  <p:tag name="KSO_WM_DIAGRAM_VIRTUALLY_FRAME" val="{&quot;height&quot;:344.32307086614173,&quot;left&quot;:47.871968503937026,&quot;top&quot;:342.95,&quot;width&quot;:462.47803149606295}"/>
</p:tagLst>
</file>

<file path=ppt/tags/tag8.xml><?xml version="1.0" encoding="utf-8"?>
<p:tagLst xmlns:p="http://schemas.openxmlformats.org/presentationml/2006/main">
  <p:tag name="KSO_WM_DIAGRAM_VIRTUALLY_FRAME" val="{&quot;height&quot;:344.32307086614173,&quot;left&quot;:47.871968503937026,&quot;top&quot;:342.95,&quot;width&quot;:462.47803149606295}"/>
</p:tagLst>
</file>

<file path=ppt/tags/tag9.xml><?xml version="1.0" encoding="utf-8"?>
<p:tagLst xmlns:p="http://schemas.openxmlformats.org/presentationml/2006/main">
  <p:tag name="KSO_WM_DIAGRAM_VIRTUALLY_FRAME" val="{&quot;height&quot;:344.32307086614173,&quot;left&quot;:47.871968503937026,&quot;top&quot;:342.95,&quot;width&quot;:462.47803149606295}"/>
</p:tagLst>
</file>

<file path=ppt/tags/tag10.xml><?xml version="1.0" encoding="utf-8"?>
<p:tagLst xmlns:p="http://schemas.openxmlformats.org/presentationml/2006/main">
  <p:tag name="KSO_WM_DIAGRAM_VIRTUALLY_FRAME" val="{&quot;height&quot;:344.32307086614173,&quot;left&quot;:47.871968503937026,&quot;top&quot;:342.95,&quot;width&quot;:462.47803149606295}"/>
</p:tagLst>
</file>

<file path=ppt/tags/tag11.xml><?xml version="1.0" encoding="utf-8"?>
<p:tagLst xmlns:p="http://schemas.openxmlformats.org/presentationml/2006/main">
  <p:tag name="KSO_WM_DIAGRAM_VIRTUALLY_FRAME" val="{&quot;height&quot;:344.32307086614173,&quot;left&quot;:47.871968503937026,&quot;top&quot;:342.95,&quot;width&quot;:462.47803149606295}"/>
</p:tagLst>
</file>

<file path=ppt/tags/tag12.xml><?xml version="1.0" encoding="utf-8"?>
<p:tagLst xmlns:p="http://schemas.openxmlformats.org/presentationml/2006/main">
  <p:tag name="KSO_WM_DIAGRAM_VIRTUALLY_FRAME" val="{&quot;height&quot;:344.32307086614173,&quot;left&quot;:47.871968503937026,&quot;top&quot;:342.95,&quot;width&quot;:462.47803149606295}"/>
</p:tagLst>
</file>

<file path=ppt/tags/tag13.xml><?xml version="1.0" encoding="utf-8"?>
<p:tagLst xmlns:p="http://schemas.openxmlformats.org/presentationml/2006/main">
  <p:tag name="KSO_WM_DIAGRAM_VIRTUALLY_FRAME" val="{&quot;height&quot;:344.32307086614173,&quot;left&quot;:47.871968503937026,&quot;top&quot;:342.95,&quot;width&quot;:462.47803149606295}"/>
</p:tagLst>
</file>

<file path=ppt/tags/tag14.xml><?xml version="1.0" encoding="utf-8"?>
<p:tagLst xmlns:p="http://schemas.openxmlformats.org/presentationml/2006/main">
  <p:tag name="KSO_WM_DIAGRAM_VIRTUALLY_FRAME" val="{&quot;height&quot;:344.32307086614173,&quot;left&quot;:47.871968503937026,&quot;top&quot;:342.95,&quot;width&quot;:462.47803149606295}"/>
</p:tagLst>
</file>

<file path=ppt/tags/tag15.xml><?xml version="1.0" encoding="utf-8"?>
<p:tagLst xmlns:p="http://schemas.openxmlformats.org/presentationml/2006/main">
  <p:tag name="KSO_WM_DIAGRAM_VIRTUALLY_FRAME" val="{&quot;height&quot;:344.32307086614173,&quot;left&quot;:47.871968503937026,&quot;top&quot;:342.95,&quot;width&quot;:462.47803149606295}"/>
</p:tagLst>
</file>

<file path=ppt/tags/tag16.xml><?xml version="1.0" encoding="utf-8"?>
<p:tagLst xmlns:p="http://schemas.openxmlformats.org/presentationml/2006/main">
  <p:tag name="KSO_WM_DIAGRAM_VIRTUALLY_FRAME" val="{&quot;height&quot;:344.32307086614173,&quot;left&quot;:47.871968503937026,&quot;top&quot;:342.95,&quot;width&quot;:462.47803149606295}"/>
</p:tagLst>
</file>

<file path=ppt/tags/tag17.xml><?xml version="1.0" encoding="utf-8"?>
<p:tagLst xmlns:p="http://schemas.openxmlformats.org/presentationml/2006/main">
  <p:tag name="KSO_WM_DIAGRAM_VIRTUALLY_FRAME" val="{&quot;height&quot;:344.32307086614173,&quot;left&quot;:47.871968503937026,&quot;top&quot;:342.95,&quot;width&quot;:462.47803149606295}"/>
</p:tagLst>
</file>

<file path=ppt/tags/tag18.xml><?xml version="1.0" encoding="utf-8"?>
<p:tagLst xmlns:p="http://schemas.openxmlformats.org/presentationml/2006/main">
  <p:tag name="KSO_WM_DIAGRAM_VIRTUALLY_FRAME" val="{&quot;height&quot;:344.32307086614173,&quot;left&quot;:47.871968503937026,&quot;top&quot;:342.95,&quot;width&quot;:462.47803149606295}"/>
</p:tagLst>
</file>

<file path=ppt/tags/tag19.xml><?xml version="1.0" encoding="utf-8"?>
<p:tagLst xmlns:p="http://schemas.openxmlformats.org/presentationml/2006/main">
  <p:tag name="KSO_WM_DIAGRAM_VIRTUALLY_FRAME" val="{&quot;height&quot;:344.32307086614173,&quot;left&quot;:47.871968503937026,&quot;top&quot;:342.95,&quot;width&quot;:462.47803149606295}"/>
</p:tagLst>
</file>

<file path=ppt/tags/tag20.xml><?xml version="1.0" encoding="utf-8"?>
<p:tagLst xmlns:p="http://schemas.openxmlformats.org/presentationml/2006/main">
  <p:tag name="KSO_WM_DIAGRAM_VIRTUALLY_FRAME" val="{&quot;height&quot;:344.32307086614173,&quot;left&quot;:47.871968503937026,&quot;top&quot;:342.95,&quot;width&quot;:462.47803149606295}"/>
</p:tagLst>
</file>

<file path=ppt/tags/tag21.xml><?xml version="1.0" encoding="utf-8"?>
<p:tagLst xmlns:p="http://schemas.openxmlformats.org/presentationml/2006/main">
  <p:tag name="KSO_WM_DIAGRAM_VIRTUALLY_FRAME" val="{&quot;height&quot;:344.32307086614173,&quot;left&quot;:47.871968503937026,&quot;top&quot;:342.95,&quot;width&quot;:462.47803149606295}"/>
</p:tagLst>
</file>

<file path=ppt/tags/tag22.xml><?xml version="1.0" encoding="utf-8"?>
<p:tagLst xmlns:p="http://schemas.openxmlformats.org/presentationml/2006/main">
  <p:tag name="KSO_WM_DIAGRAM_VIRTUALLY_FRAME" val="{&quot;height&quot;:344.32307086614173,&quot;left&quot;:47.871968503937026,&quot;top&quot;:342.95,&quot;width&quot;:462.47803149606295}"/>
</p:tagLst>
</file>

<file path=ppt/tags/tag23.xml><?xml version="1.0" encoding="utf-8"?>
<p:tagLst xmlns:p="http://schemas.openxmlformats.org/presentationml/2006/main">
  <p:tag name="KSO_WM_DIAGRAM_VIRTUALLY_FRAME" val="{&quot;height&quot;:344.32307086614173,&quot;left&quot;:47.871968503937026,&quot;top&quot;:342.95,&quot;width&quot;:462.47803149606295}"/>
</p:tagLst>
</file>

<file path=ppt/tags/tag24.xml><?xml version="1.0" encoding="utf-8"?>
<p:tagLst xmlns:p="http://schemas.openxmlformats.org/presentationml/2006/main">
  <p:tag name="KSO_WM_DIAGRAM_VIRTUALLY_FRAME" val="{&quot;height&quot;:344.32307086614173,&quot;left&quot;:47.871968503937026,&quot;top&quot;:342.95,&quot;width&quot;:462.47803149606295}"/>
</p:tagLst>
</file>

<file path=ppt/tags/tag25.xml><?xml version="1.0" encoding="utf-8"?>
<p:tagLst xmlns:p="http://schemas.openxmlformats.org/presentationml/2006/main">
  <p:tag name="KSO_WM_DIAGRAM_VIRTUALLY_FRAME" val="{&quot;height&quot;:344.32307086614173,&quot;left&quot;:47.871968503937026,&quot;top&quot;:342.95,&quot;width&quot;:462.47803149606295}"/>
</p:tagLst>
</file>

<file path=ppt/tags/tag26.xml><?xml version="1.0" encoding="utf-8"?>
<p:tagLst xmlns:p="http://schemas.openxmlformats.org/presentationml/2006/main">
  <p:tag name="KSO_WM_DIAGRAM_VIRTUALLY_FRAME" val="{&quot;height&quot;:344.32307086614173,&quot;left&quot;:47.871968503937026,&quot;top&quot;:342.95,&quot;width&quot;:462.47803149606295}"/>
</p:tagLst>
</file>

<file path=ppt/tags/tag27.xml><?xml version="1.0" encoding="utf-8"?>
<p:tagLst xmlns:p="http://schemas.openxmlformats.org/presentationml/2006/main">
  <p:tag name="KSO_WM_DIAGRAM_VIRTUALLY_FRAME" val="{&quot;height&quot;:344.32307086614173,&quot;left&quot;:47.871968503937026,&quot;top&quot;:342.95,&quot;width&quot;:462.47803149606295}"/>
</p:tagLst>
</file>

<file path=ppt/tags/tag28.xml><?xml version="1.0" encoding="utf-8"?>
<p:tagLst xmlns:p="http://schemas.openxmlformats.org/presentationml/2006/main">
  <p:tag name="KSO_WM_DIAGRAM_VIRTUALLY_FRAME" val="{&quot;height&quot;:344.32307086614173,&quot;left&quot;:47.871968503937026,&quot;top&quot;:342.95,&quot;width&quot;:462.47803149606295}"/>
</p:tagLst>
</file>

<file path=ppt/tags/tag29.xml><?xml version="1.0" encoding="utf-8"?>
<p:tagLst xmlns:p="http://schemas.openxmlformats.org/presentationml/2006/main">
  <p:tag name="KSO_WM_DIAGRAM_VIRTUALLY_FRAME" val="{&quot;height&quot;:344.32307086614173,&quot;left&quot;:47.871968503937026,&quot;top&quot;:342.95,&quot;width&quot;:462.47803149606295}"/>
</p:tagLst>
</file>

<file path=ppt/tags/tag30.xml><?xml version="1.0" encoding="utf-8"?>
<p:tagLst xmlns:p="http://schemas.openxmlformats.org/presentationml/2006/main">
  <p:tag name="KSO_WM_DIAGRAM_VIRTUALLY_FRAME" val="{&quot;height&quot;:344.32307086614173,&quot;left&quot;:47.871968503937026,&quot;top&quot;:342.95,&quot;width&quot;:462.47803149606295}"/>
</p:tagLst>
</file>

<file path=ppt/tags/tag31.xml><?xml version="1.0" encoding="utf-8"?>
<p:tagLst xmlns:p="http://schemas.openxmlformats.org/presentationml/2006/main">
  <p:tag name="KSO_WM_DIAGRAM_VIRTUALLY_FRAME" val="{&quot;height&quot;:344.32307086614173,&quot;left&quot;:47.871968503937026,&quot;top&quot;:342.95,&quot;width&quot;:462.47803149606295}"/>
</p:tagLst>
</file>

<file path=ppt/tags/tag32.xml><?xml version="1.0" encoding="utf-8"?>
<p:tagLst xmlns:p="http://schemas.openxmlformats.org/presentationml/2006/main">
  <p:tag name="KSO_WM_DIAGRAM_VIRTUALLY_FRAME" val="{&quot;height&quot;:344.32307086614173,&quot;left&quot;:47.871968503937026,&quot;top&quot;:342.95,&quot;width&quot;:462.47803149606295}"/>
</p:tagLst>
</file>

<file path=ppt/tags/tag33.xml><?xml version="1.0" encoding="utf-8"?>
<p:tagLst xmlns:p="http://schemas.openxmlformats.org/presentationml/2006/main">
  <p:tag name="KSO_WM_DIAGRAM_VIRTUALLY_FRAME" val="{&quot;height&quot;:344.32307086614173,&quot;left&quot;:47.871968503937026,&quot;top&quot;:342.95,&quot;width&quot;:462.47803149606295}"/>
</p:tagLst>
</file>

<file path=ppt/tags/tag34.xml><?xml version="1.0" encoding="utf-8"?>
<p:tagLst xmlns:p="http://schemas.openxmlformats.org/presentationml/2006/main">
  <p:tag name="KSO_WM_DIAGRAM_VIRTUALLY_FRAME" val="{&quot;height&quot;:344.32307086614173,&quot;left&quot;:47.871968503937026,&quot;top&quot;:342.95,&quot;width&quot;:462.47803149606295}"/>
</p:tagLst>
</file>

<file path=ppt/tags/tag35.xml><?xml version="1.0" encoding="utf-8"?>
<p:tagLst xmlns:p="http://schemas.openxmlformats.org/presentationml/2006/main">
  <p:tag name="KSO_WM_DIAGRAM_VIRTUALLY_FRAME" val="{&quot;height&quot;:344.32307086614173,&quot;left&quot;:47.871968503937026,&quot;top&quot;:342.95,&quot;width&quot;:462.47803149606295}"/>
</p:tagLst>
</file>

<file path=ppt/tags/tag36.xml><?xml version="1.0" encoding="utf-8"?>
<p:tagLst xmlns:p="http://schemas.openxmlformats.org/presentationml/2006/main">
  <p:tag name="KSO_WM_DIAGRAM_VIRTUALLY_FRAME" val="{&quot;height&quot;:344.32307086614173,&quot;left&quot;:47.871968503937026,&quot;top&quot;:342.95,&quot;width&quot;:462.47803149606295}"/>
</p:tagLst>
</file>

<file path=ppt/tags/tag37.xml><?xml version="1.0" encoding="utf-8"?>
<p:tagLst xmlns:p="http://schemas.openxmlformats.org/presentationml/2006/main">
  <p:tag name="KSO_WM_DIAGRAM_VIRTUALLY_FRAME" val="{&quot;height&quot;:344.32307086614173,&quot;left&quot;:47.871968503937026,&quot;top&quot;:342.95,&quot;width&quot;:462.47803149606295}"/>
</p:tagLst>
</file>

<file path=ppt/tags/tag38.xml><?xml version="1.0" encoding="utf-8"?>
<p:tagLst xmlns:p="http://schemas.openxmlformats.org/presentationml/2006/main">
  <p:tag name="KSO_WM_DIAGRAM_VIRTUALLY_FRAME" val="{&quot;height&quot;:344.32307086614173,&quot;left&quot;:47.871968503937026,&quot;top&quot;:342.95,&quot;width&quot;:462.47803149606295}"/>
</p:tagLst>
</file>

<file path=ppt/tags/tag39.xml><?xml version="1.0" encoding="utf-8"?>
<p:tagLst xmlns:p="http://schemas.openxmlformats.org/presentationml/2006/main">
  <p:tag name="KSO_WM_DIAGRAM_VIRTUALLY_FRAME" val="{&quot;height&quot;:344.32307086614173,&quot;left&quot;:47.871968503937026,&quot;top&quot;:342.95,&quot;width&quot;:462.47803149606295}"/>
</p:tagLst>
</file>

<file path=ppt/tags/tag40.xml><?xml version="1.0" encoding="utf-8"?>
<p:tagLst xmlns:p="http://schemas.openxmlformats.org/presentationml/2006/main">
  <p:tag name="KSO_WM_DIAGRAM_VIRTUALLY_FRAME" val="{&quot;height&quot;:344.32307086614173,&quot;left&quot;:47.871968503937026,&quot;top&quot;:342.95,&quot;width&quot;:462.47803149606295}"/>
</p:tagLst>
</file>

<file path=ppt/tags/tag41.xml><?xml version="1.0" encoding="utf-8"?>
<p:tagLst xmlns:p="http://schemas.openxmlformats.org/presentationml/2006/main">
  <p:tag name="KSO_WM_DIAGRAM_VIRTUALLY_FRAME" val="{&quot;height&quot;:344.32307086614173,&quot;left&quot;:47.871968503937026,&quot;top&quot;:342.95,&quot;width&quot;:462.47803149606295}"/>
</p:tagLst>
</file>

<file path=ppt/tags/tag42.xml><?xml version="1.0" encoding="utf-8"?>
<p:tagLst xmlns:p="http://schemas.openxmlformats.org/presentationml/2006/main">
  <p:tag name="KSO_WM_DIAGRAM_VIRTUALLY_FRAME" val="{&quot;height&quot;:344.32307086614173,&quot;left&quot;:47.871968503937026,&quot;top&quot;:342.95,&quot;width&quot;:462.47803149606295}"/>
</p:tagLst>
</file>

<file path=ppt/tags/tag43.xml><?xml version="1.0" encoding="utf-8"?>
<p:tagLst xmlns:p="http://schemas.openxmlformats.org/presentationml/2006/main">
  <p:tag name="KSO_WM_DIAGRAM_VIRTUALLY_FRAME" val="{&quot;height&quot;:344.32307086614173,&quot;left&quot;:47.871968503937026,&quot;top&quot;:342.95,&quot;width&quot;:462.47803149606295}"/>
</p:tagLst>
</file>

<file path=ppt/tags/tag44.xml><?xml version="1.0" encoding="utf-8"?>
<p:tagLst xmlns:p="http://schemas.openxmlformats.org/presentationml/2006/main">
  <p:tag name="KSO_WM_DIAGRAM_VIRTUALLY_FRAME" val="{&quot;height&quot;:344.32307086614173,&quot;left&quot;:47.871968503937026,&quot;top&quot;:342.95,&quot;width&quot;:462.47803149606295}"/>
</p:tagLst>
</file>

<file path=ppt/tags/tag45.xml><?xml version="1.0" encoding="utf-8"?>
<p:tagLst xmlns:p="http://schemas.openxmlformats.org/presentationml/2006/main">
  <p:tag name="KSO_WM_DIAGRAM_VIRTUALLY_FRAME" val="{&quot;height&quot;:344.32307086614173,&quot;left&quot;:47.871968503937026,&quot;top&quot;:342.95,&quot;width&quot;:462.47803149606295}"/>
</p:tagLst>
</file>

<file path=ppt/tags/tag46.xml><?xml version="1.0" encoding="utf-8"?>
<p:tagLst xmlns:p="http://schemas.openxmlformats.org/presentationml/2006/main">
  <p:tag name="KSO_WM_DIAGRAM_VIRTUALLY_FRAME" val="{&quot;height&quot;:344.32307086614173,&quot;left&quot;:47.871968503937026,&quot;top&quot;:342.95,&quot;width&quot;:462.47803149606295}"/>
</p:tagLst>
</file>

<file path=ppt/tags/tag47.xml><?xml version="1.0" encoding="utf-8"?>
<p:tagLst xmlns:p="http://schemas.openxmlformats.org/presentationml/2006/main">
  <p:tag name="KSO_WM_DIAGRAM_VIRTUALLY_FRAME" val="{&quot;height&quot;:344.32307086614173,&quot;left&quot;:47.871968503937026,&quot;top&quot;:342.95,&quot;width&quot;:462.47803149606295}"/>
</p:tagLst>
</file>

<file path=ppt/tags/tag48.xml><?xml version="1.0" encoding="utf-8"?>
<p:tagLst xmlns:p="http://schemas.openxmlformats.org/presentationml/2006/main">
  <p:tag name="KSO_WM_DIAGRAM_VIRTUALLY_FRAME" val="{&quot;height&quot;:344.32307086614173,&quot;left&quot;:47.871968503937026,&quot;top&quot;:342.95,&quot;width&quot;:462.47803149606295}"/>
</p:tagLst>
</file>

<file path=ppt/tags/tag49.xml><?xml version="1.0" encoding="utf-8"?>
<p:tagLst xmlns:p="http://schemas.openxmlformats.org/presentationml/2006/main">
  <p:tag name="KSO_WM_DIAGRAM_VIRTUALLY_FRAME" val="{&quot;height&quot;:344.32307086614173,&quot;left&quot;:47.871968503937026,&quot;top&quot;:342.95,&quot;width&quot;:462.47803149606295}"/>
</p:tagLst>
</file>

<file path=ppt/tags/tag50.xml><?xml version="1.0" encoding="utf-8"?>
<p:tagLst xmlns:p="http://schemas.openxmlformats.org/presentationml/2006/main">
  <p:tag name="KSO_WM_DIAGRAM_VIRTUALLY_FRAME" val="{&quot;height&quot;:344.32307086614173,&quot;left&quot;:47.871968503937026,&quot;top&quot;:342.95,&quot;width&quot;:462.47803149606295}"/>
</p:tagLst>
</file>

<file path=ppt/tags/tag51.xml><?xml version="1.0" encoding="utf-8"?>
<p:tagLst xmlns:p="http://schemas.openxmlformats.org/presentationml/2006/main">
  <p:tag name="KSO_WM_DIAGRAM_VIRTUALLY_FRAME" val="{&quot;height&quot;:344.32307086614173,&quot;left&quot;:47.871968503937026,&quot;top&quot;:342.95,&quot;width&quot;:462.47803149606295}"/>
</p:tagLst>
</file>

<file path=ppt/tags/tag52.xml><?xml version="1.0" encoding="utf-8"?>
<p:tagLst xmlns:p="http://schemas.openxmlformats.org/presentationml/2006/main">
  <p:tag name="KSO_WM_DIAGRAM_VIRTUALLY_FRAME" val="{&quot;height&quot;:344.32307086614173,&quot;left&quot;:47.871968503937026,&quot;top&quot;:342.95,&quot;width&quot;:462.47803149606295}"/>
</p:tagLst>
</file>

<file path=ppt/tags/tag53.xml><?xml version="1.0" encoding="utf-8"?>
<p:tagLst xmlns:p="http://schemas.openxmlformats.org/presentationml/2006/main">
  <p:tag name="KSO_WM_DIAGRAM_VIRTUALLY_FRAME" val="{&quot;height&quot;:344.32307086614173,&quot;left&quot;:47.871968503937026,&quot;top&quot;:342.95,&quot;width&quot;:462.47803149606295}"/>
</p:tagLst>
</file>

<file path=ppt/tags/tag54.xml><?xml version="1.0" encoding="utf-8"?>
<p:tagLst xmlns:p="http://schemas.openxmlformats.org/presentationml/2006/main">
  <p:tag name="KSO_WM_DIAGRAM_VIRTUALLY_FRAME" val="{&quot;height&quot;:344.32307086614173,&quot;left&quot;:47.871968503937026,&quot;top&quot;:342.95,&quot;width&quot;:462.47803149606295}"/>
</p:tagLst>
</file>

<file path=ppt/tags/tag55.xml><?xml version="1.0" encoding="utf-8"?>
<p:tagLst xmlns:p="http://schemas.openxmlformats.org/presentationml/2006/main">
  <p:tag name="KSO_WM_DIAGRAM_VIRTUALLY_FRAME" val="{&quot;height&quot;:344.32307086614173,&quot;left&quot;:47.871968503937026,&quot;top&quot;:342.95,&quot;width&quot;:462.47803149606295}"/>
</p:tagLst>
</file>

<file path=ppt/tags/tag56.xml><?xml version="1.0" encoding="utf-8"?>
<p:tagLst xmlns:p="http://schemas.openxmlformats.org/presentationml/2006/main">
  <p:tag name="KSO_WM_DIAGRAM_VIRTUALLY_FRAME" val="{&quot;height&quot;:344.32307086614173,&quot;left&quot;:47.871968503937026,&quot;top&quot;:342.95,&quot;width&quot;:462.47803149606295}"/>
</p:tagLst>
</file>

<file path=ppt/tags/tag57.xml><?xml version="1.0" encoding="utf-8"?>
<p:tagLst xmlns:p="http://schemas.openxmlformats.org/presentationml/2006/main">
  <p:tag name="KSO_WM_DIAGRAM_VIRTUALLY_FRAME" val="{&quot;height&quot;:344.32307086614173,&quot;left&quot;:47.871968503937026,&quot;top&quot;:342.95,&quot;width&quot;:462.47803149606295}"/>
</p:tagLst>
</file>

<file path=ppt/tags/tag58.xml><?xml version="1.0" encoding="utf-8"?>
<p:tagLst xmlns:p="http://schemas.openxmlformats.org/presentationml/2006/main">
  <p:tag name="KSO_WM_DIAGRAM_VIRTUALLY_FRAME" val="{&quot;height&quot;:344.32307086614173,&quot;left&quot;:47.871968503937026,&quot;top&quot;:342.95,&quot;width&quot;:462.47803149606295}"/>
</p:tagLst>
</file>

<file path=ppt/tags/tag59.xml><?xml version="1.0" encoding="utf-8"?>
<p:tagLst xmlns:p="http://schemas.openxmlformats.org/presentationml/2006/main">
  <p:tag name="KSO_WM_DIAGRAM_VIRTUALLY_FRAME" val="{&quot;height&quot;:344.32307086614173,&quot;left&quot;:47.871968503937026,&quot;top&quot;:342.95,&quot;width&quot;:462.47803149606295}"/>
</p:tagLst>
</file>

<file path=ppt/tags/tag60.xml><?xml version="1.0" encoding="utf-8"?>
<p:tagLst xmlns:p="http://schemas.openxmlformats.org/presentationml/2006/main">
  <p:tag name="KSO_WM_DIAGRAM_VIRTUALLY_FRAME" val="{&quot;height&quot;:344.32307086614173,&quot;left&quot;:47.871968503937026,&quot;top&quot;:342.95,&quot;width&quot;:462.47803149606295}"/>
</p:tagLst>
</file>

<file path=ppt/tags/tag61.xml><?xml version="1.0" encoding="utf-8"?>
<p:tagLst xmlns:p="http://schemas.openxmlformats.org/presentationml/2006/main">
  <p:tag name="KSO_WM_DIAGRAM_VIRTUALLY_FRAME" val="{&quot;height&quot;:344.32307086614173,&quot;left&quot;:47.871968503937026,&quot;top&quot;:342.95,&quot;width&quot;:462.47803149606295}"/>
</p:tagLst>
</file>

<file path=ppt/tags/tag62.xml><?xml version="1.0" encoding="utf-8"?>
<p:tagLst xmlns:p="http://schemas.openxmlformats.org/presentationml/2006/main">
  <p:tag name="KSO_WM_DIAGRAM_VIRTUALLY_FRAME" val="{&quot;height&quot;:344.32307086614173,&quot;left&quot;:47.871968503937026,&quot;top&quot;:342.95,&quot;width&quot;:462.47803149606295}"/>
</p:tagLst>
</file>

<file path=ppt/tags/tag63.xml><?xml version="1.0" encoding="utf-8"?>
<p:tagLst xmlns:p="http://schemas.openxmlformats.org/presentationml/2006/main">
  <p:tag name="KSO_WM_DIAGRAM_VIRTUALLY_FRAME" val="{&quot;height&quot;:344.32307086614173,&quot;left&quot;:47.871968503937026,&quot;top&quot;:342.95,&quot;width&quot;:462.47803149606295}"/>
</p:tagLst>
</file>

<file path=ppt/tags/tag64.xml><?xml version="1.0" encoding="utf-8"?>
<p:tagLst xmlns:p="http://schemas.openxmlformats.org/presentationml/2006/main">
  <p:tag name="KSO_WM_DIAGRAM_VIRTUALLY_FRAME" val="{&quot;height&quot;:344.32307086614173,&quot;left&quot;:47.871968503937026,&quot;top&quot;:342.95,&quot;width&quot;:462.47803149606295}"/>
</p:tagLst>
</file>

<file path=ppt/tags/tag65.xml><?xml version="1.0" encoding="utf-8"?>
<p:tagLst xmlns:p="http://schemas.openxmlformats.org/presentationml/2006/main">
  <p:tag name="KSO_WM_DIAGRAM_VIRTUALLY_FRAME" val="{&quot;height&quot;:344.32307086614173,&quot;left&quot;:47.871968503937026,&quot;top&quot;:342.95,&quot;width&quot;:462.47803149606295}"/>
</p:tagLst>
</file>

<file path=ppt/tags/tag66.xml><?xml version="1.0" encoding="utf-8"?>
<p:tagLst xmlns:p="http://schemas.openxmlformats.org/presentationml/2006/main">
  <p:tag name="KSO_WM_DIAGRAM_VIRTUALLY_FRAME" val="{&quot;height&quot;:344.32307086614173,&quot;left&quot;:47.871968503937026,&quot;top&quot;:342.95,&quot;width&quot;:462.47803149606295}"/>
</p:tagLst>
</file>

<file path=ppt/tags/tag67.xml><?xml version="1.0" encoding="utf-8"?>
<p:tagLst xmlns:p="http://schemas.openxmlformats.org/presentationml/2006/main">
  <p:tag name="KSO_WM_DIAGRAM_VIRTUALLY_FRAME" val="{&quot;height&quot;:344.32307086614173,&quot;left&quot;:47.871968503937026,&quot;top&quot;:342.95,&quot;width&quot;:462.47803149606295}"/>
</p:tagLst>
</file>

<file path=ppt/tags/tag68.xml><?xml version="1.0" encoding="utf-8"?>
<p:tagLst xmlns:p="http://schemas.openxmlformats.org/presentationml/2006/main">
  <p:tag name="KSO_WM_DIAGRAM_VIRTUALLY_FRAME" val="{&quot;height&quot;:344.32307086614173,&quot;left&quot;:47.871968503937026,&quot;top&quot;:342.95,&quot;width&quot;:462.47803149606295}"/>
</p:tagLst>
</file>

<file path=ppt/tags/tag69.xml><?xml version="1.0" encoding="utf-8"?>
<p:tagLst xmlns:p="http://schemas.openxmlformats.org/presentationml/2006/main">
  <p:tag name="KSO_WM_DIAGRAM_VIRTUALLY_FRAME" val="{&quot;height&quot;:344.32307086614173,&quot;left&quot;:47.871968503937026,&quot;top&quot;:342.95,&quot;width&quot;:462.47803149606295}"/>
</p:tagLst>
</file>

<file path=ppt/tags/tag70.xml><?xml version="1.0" encoding="utf-8"?>
<p:tagLst xmlns:p="http://schemas.openxmlformats.org/presentationml/2006/main">
  <p:tag name="KSO_WM_DIAGRAM_VIRTUALLY_FRAME" val="{&quot;height&quot;:344.32307086614173,&quot;left&quot;:47.871968503937026,&quot;top&quot;:342.95,&quot;width&quot;:462.47803149606295}"/>
</p:tagLst>
</file>

<file path=ppt/tags/tag71.xml><?xml version="1.0" encoding="utf-8"?>
<p:tagLst xmlns:p="http://schemas.openxmlformats.org/presentationml/2006/main">
  <p:tag name="KSO_WM_DIAGRAM_VIRTUALLY_FRAME" val="{&quot;height&quot;:344.32307086614173,&quot;left&quot;:47.871968503937026,&quot;top&quot;:342.95,&quot;width&quot;:462.47803149606295}"/>
</p:tagLst>
</file>

<file path=ppt/tags/tag72.xml><?xml version="1.0" encoding="utf-8"?>
<p:tagLst xmlns:p="http://schemas.openxmlformats.org/presentationml/2006/main">
  <p:tag name="KSO_WM_DIAGRAM_VIRTUALLY_FRAME" val="{&quot;height&quot;:344.32307086614173,&quot;left&quot;:47.871968503937026,&quot;top&quot;:342.95,&quot;width&quot;:462.47803149606295}"/>
</p:tagLst>
</file>

<file path=ppt/tags/tag73.xml><?xml version="1.0" encoding="utf-8"?>
<p:tagLst xmlns:p="http://schemas.openxmlformats.org/presentationml/2006/main">
  <p:tag name="KSO_WM_DIAGRAM_VIRTUALLY_FRAME" val="{&quot;height&quot;:344.32307086614173,&quot;left&quot;:47.871968503937026,&quot;top&quot;:342.95,&quot;width&quot;:462.47803149606295}"/>
</p:tagLst>
</file>

<file path=ppt/tags/tag74.xml><?xml version="1.0" encoding="utf-8"?>
<p:tagLst xmlns:p="http://schemas.openxmlformats.org/presentationml/2006/main">
  <p:tag name="KSO_WM_DIAGRAM_VIRTUALLY_FRAME" val="{&quot;height&quot;:344.32307086614173,&quot;left&quot;:47.871968503937026,&quot;top&quot;:342.95,&quot;width&quot;:462.47803149606295}"/>
</p:tagLst>
</file>

<file path=ppt/tags/tag75.xml><?xml version="1.0" encoding="utf-8"?>
<p:tagLst xmlns:p="http://schemas.openxmlformats.org/presentationml/2006/main">
  <p:tag name="KSO_WM_DIAGRAM_VIRTUALLY_FRAME" val="{&quot;height&quot;:344.32307086614173,&quot;left&quot;:47.871968503937026,&quot;top&quot;:342.95,&quot;width&quot;:462.47803149606295}"/>
</p:tagLst>
</file>

<file path=ppt/tags/tag76.xml><?xml version="1.0" encoding="utf-8"?>
<p:tagLst xmlns:p="http://schemas.openxmlformats.org/presentationml/2006/main">
  <p:tag name="KSO_WM_DIAGRAM_VIRTUALLY_FRAME" val="{&quot;height&quot;:344.32307086614173,&quot;left&quot;:47.871968503937026,&quot;top&quot;:342.95,&quot;width&quot;:462.47803149606295}"/>
</p:tagLst>
</file>

<file path=ppt/tags/tag77.xml><?xml version="1.0" encoding="utf-8"?>
<p:tagLst xmlns:p="http://schemas.openxmlformats.org/presentationml/2006/main">
  <p:tag name="KSO_WM_DIAGRAM_VIRTUALLY_FRAME" val="{&quot;height&quot;:344.32307086614173,&quot;left&quot;:47.871968503937026,&quot;top&quot;:342.95,&quot;width&quot;:462.47803149606295}"/>
</p:tagLst>
</file>

<file path=ppt/tags/tag78.xml><?xml version="1.0" encoding="utf-8"?>
<p:tagLst xmlns:p="http://schemas.openxmlformats.org/presentationml/2006/main">
  <p:tag name="KSO_WM_DIAGRAM_VIRTUALLY_FRAME" val="{&quot;height&quot;:344.32307086614173,&quot;left&quot;:47.871968503937026,&quot;top&quot;:342.95,&quot;width&quot;:462.47803149606295}"/>
</p:tagLst>
</file>

<file path=ppt/tags/tag79.xml><?xml version="1.0" encoding="utf-8"?>
<p:tagLst xmlns:p="http://schemas.openxmlformats.org/presentationml/2006/main">
  <p:tag name="KSO_WM_DIAGRAM_VIRTUALLY_FRAME" val="{&quot;height&quot;:344.32307086614173,&quot;left&quot;:47.871968503937026,&quot;top&quot;:342.95,&quot;width&quot;:462.47803149606295}"/>
</p:tagLst>
</file>

<file path=ppt/tags/tag80.xml><?xml version="1.0" encoding="utf-8"?>
<p:tagLst xmlns:p="http://schemas.openxmlformats.org/presentationml/2006/main">
  <p:tag name="KSO_WM_DIAGRAM_VIRTUALLY_FRAME" val="{&quot;height&quot;:344.32307086614173,&quot;left&quot;:47.871968503937026,&quot;top&quot;:342.95,&quot;width&quot;:462.47803149606295}"/>
</p:tagLst>
</file>

<file path=ppt/tags/tag81.xml><?xml version="1.0" encoding="utf-8"?>
<p:tagLst xmlns:p="http://schemas.openxmlformats.org/presentationml/2006/main">
  <p:tag name="KSO_WM_DIAGRAM_VIRTUALLY_FRAME" val="{&quot;height&quot;:344.32307086614173,&quot;left&quot;:47.871968503937026,&quot;top&quot;:342.95,&quot;width&quot;:462.47803149606295}"/>
</p:tagLst>
</file>

<file path=ppt/tags/tag82.xml><?xml version="1.0" encoding="utf-8"?>
<p:tagLst xmlns:p="http://schemas.openxmlformats.org/presentationml/2006/main">
  <p:tag name="KSO_WM_DIAGRAM_VIRTUALLY_FRAME" val="{&quot;height&quot;:344.32307086614173,&quot;left&quot;:47.871968503937026,&quot;top&quot;:342.95,&quot;width&quot;:462.47803149606295}"/>
</p:tagLst>
</file>

<file path=ppt/tags/tag83.xml><?xml version="1.0" encoding="utf-8"?>
<p:tagLst xmlns:p="http://schemas.openxmlformats.org/presentationml/2006/main">
  <p:tag name="KSO_WM_DIAGRAM_VIRTUALLY_FRAME" val="{&quot;height&quot;:344.32307086614173,&quot;left&quot;:47.871968503937026,&quot;top&quot;:342.95,&quot;width&quot;:462.47803149606295}"/>
</p:tagLst>
</file>

<file path=ppt/tags/tag84.xml><?xml version="1.0" encoding="utf-8"?>
<p:tagLst xmlns:p="http://schemas.openxmlformats.org/presentationml/2006/main">
  <p:tag name="KSO_WM_DIAGRAM_VIRTUALLY_FRAME" val="{&quot;height&quot;:344.32307086614173,&quot;left&quot;:47.871968503937026,&quot;top&quot;:342.95,&quot;width&quot;:462.47803149606295}"/>
</p:tagLst>
</file>

<file path=ppt/tags/tag85.xml><?xml version="1.0" encoding="utf-8"?>
<p:tagLst xmlns:p="http://schemas.openxmlformats.org/presentationml/2006/main">
  <p:tag name="KSO_WM_DIAGRAM_VIRTUALLY_FRAME" val="{&quot;height&quot;:344.32307086614173,&quot;left&quot;:47.871968503937026,&quot;top&quot;:342.95,&quot;width&quot;:462.47803149606295}"/>
</p:tagLst>
</file>

<file path=ppt/tags/tag86.xml><?xml version="1.0" encoding="utf-8"?>
<p:tagLst xmlns:p="http://schemas.openxmlformats.org/presentationml/2006/main">
  <p:tag name="KSO_WM_DIAGRAM_VIRTUALLY_FRAME" val="{&quot;height&quot;:344.32307086614173,&quot;left&quot;:47.871968503937026,&quot;top&quot;:342.95,&quot;width&quot;:462.47803149606295}"/>
</p:tagLst>
</file>

<file path=ppt/tags/tag87.xml><?xml version="1.0" encoding="utf-8"?>
<p:tagLst xmlns:p="http://schemas.openxmlformats.org/presentationml/2006/main">
  <p:tag name="KSO_WM_DIAGRAM_VIRTUALLY_FRAME" val="{&quot;height&quot;:344.32307086614173,&quot;left&quot;:47.871968503937026,&quot;top&quot;:342.95,&quot;width&quot;:462.47803149606295}"/>
</p:tagLst>
</file>

<file path=ppt/tags/tag88.xml><?xml version="1.0" encoding="utf-8"?>
<p:tagLst xmlns:p="http://schemas.openxmlformats.org/presentationml/2006/main">
  <p:tag name="KSO_WM_DIAGRAM_VIRTUALLY_FRAME" val="{&quot;height&quot;:344.32307086614173,&quot;left&quot;:47.871968503937026,&quot;top&quot;:342.95,&quot;width&quot;:462.47803149606295}"/>
</p:tagLst>
</file>

<file path=ppt/tags/tag89.xml><?xml version="1.0" encoding="utf-8"?>
<p:tagLst xmlns:p="http://schemas.openxmlformats.org/presentationml/2006/main">
  <p:tag name="KSO_WM_DIAGRAM_VIRTUALLY_FRAME" val="{&quot;height&quot;:344.32307086614173,&quot;left&quot;:47.871968503937026,&quot;top&quot;:342.95,&quot;width&quot;:462.47803149606295}"/>
</p:tagLst>
</file>

<file path=ppt/tags/tag90.xml><?xml version="1.0" encoding="utf-8"?>
<p:tagLst xmlns:p="http://schemas.openxmlformats.org/presentationml/2006/main">
  <p:tag name="KSO_WM_DIAGRAM_VIRTUALLY_FRAME" val="{&quot;height&quot;:344.32307086614173,&quot;left&quot;:47.871968503937026,&quot;top&quot;:342.95,&quot;width&quot;:462.47803149606295}"/>
</p:tagLst>
</file>

<file path=ppt/tags/tag91.xml><?xml version="1.0" encoding="utf-8"?>
<p:tagLst xmlns:p="http://schemas.openxmlformats.org/presentationml/2006/main">
  <p:tag name="KSO_WM_DIAGRAM_VIRTUALLY_FRAME" val="{&quot;height&quot;:344.32307086614173,&quot;left&quot;:47.871968503937026,&quot;top&quot;:342.95,&quot;width&quot;:462.47803149606295}"/>
</p:tagLst>
</file>

<file path=ppt/tags/tag92.xml><?xml version="1.0" encoding="utf-8"?>
<p:tagLst xmlns:p="http://schemas.openxmlformats.org/presentationml/2006/main">
  <p:tag name="KSO_WM_DIAGRAM_VIRTUALLY_FRAME" val="{&quot;height&quot;:344.32307086614173,&quot;left&quot;:47.871968503937026,&quot;top&quot;:342.95,&quot;width&quot;:462.47803149606295}"/>
</p:tagLst>
</file>

<file path=ppt/tags/tag93.xml><?xml version="1.0" encoding="utf-8"?>
<p:tagLst xmlns:p="http://schemas.openxmlformats.org/presentationml/2006/main">
  <p:tag name="KSO_WM_DIAGRAM_VIRTUALLY_FRAME" val="{&quot;height&quot;:344.32307086614173,&quot;left&quot;:47.871968503937026,&quot;top&quot;:342.95,&quot;width&quot;:462.47803149606295}"/>
</p:tagLst>
</file>

<file path=ppt/tags/tag94.xml><?xml version="1.0" encoding="utf-8"?>
<p:tagLst xmlns:p="http://schemas.openxmlformats.org/presentationml/2006/main">
  <p:tag name="KSO_WM_DIAGRAM_VIRTUALLY_FRAME" val="{&quot;height&quot;:344.32307086614173,&quot;left&quot;:47.871968503937026,&quot;top&quot;:342.95,&quot;width&quot;:462.47803149606295}"/>
</p:tagLst>
</file>

<file path=ppt/tags/tag95.xml><?xml version="1.0" encoding="utf-8"?>
<p:tagLst xmlns:p="http://schemas.openxmlformats.org/presentationml/2006/main">
  <p:tag name="KSO_WM_DIAGRAM_VIRTUALLY_FRAME" val="{&quot;height&quot;:344.32307086614173,&quot;left&quot;:47.871968503937026,&quot;top&quot;:342.95,&quot;width&quot;:462.47803149606295}"/>
</p:tagLst>
</file>

<file path=ppt/tags/tag96.xml><?xml version="1.0" encoding="utf-8"?>
<p:tagLst xmlns:p="http://schemas.openxmlformats.org/presentationml/2006/main">
  <p:tag name="KSO_WM_DIAGRAM_VIRTUALLY_FRAME" val="{&quot;height&quot;:344.32307086614173,&quot;left&quot;:47.871968503937026,&quot;top&quot;:342.95,&quot;width&quot;:462.47803149606295}"/>
</p:tagLst>
</file>

<file path=ppt/tags/tag97.xml><?xml version="1.0" encoding="utf-8"?>
<p:tagLst xmlns:p="http://schemas.openxmlformats.org/presentationml/2006/main">
  <p:tag name="KSO_WM_DIAGRAM_VIRTUALLY_FRAME" val="{&quot;height&quot;:344.32307086614173,&quot;left&quot;:47.871968503937026,&quot;top&quot;:342.95,&quot;width&quot;:462.47803149606295}"/>
</p:tagLst>
</file>

<file path=ppt/tags/tag98.xml><?xml version="1.0" encoding="utf-8"?>
<p:tagLst xmlns:p="http://schemas.openxmlformats.org/presentationml/2006/main">
  <p:tag name="KSO_WM_DIAGRAM_VIRTUALLY_FRAME" val="{&quot;height&quot;:344.32307086614173,&quot;left&quot;:47.871968503937026,&quot;top&quot;:342.95,&quot;width&quot;:462.47803149606295}"/>
</p:tagLst>
</file>

<file path=ppt/tags/tag99.xml><?xml version="1.0" encoding="utf-8"?>
<p:tagLst xmlns:p="http://schemas.openxmlformats.org/presentationml/2006/main">
  <p:tag name="KSO_WM_DIAGRAM_VIRTUALLY_FRAME" val="{&quot;height&quot;:344.32307086614173,&quot;left&quot;:47.871968503937026,&quot;top&quot;:342.95,&quot;width&quot;:462.47803149606295}"/>
</p:tagLst>
</file>

<file path=ppt/tags/tag100.xml><?xml version="1.0" encoding="utf-8"?>
<p:tagLst xmlns:p="http://schemas.openxmlformats.org/presentationml/2006/main">
  <p:tag name="KSO_WM_DIAGRAM_VIRTUALLY_FRAME" val="{&quot;height&quot;:344.32307086614173,&quot;left&quot;:47.871968503937026,&quot;top&quot;:342.95,&quot;width&quot;:462.47803149606295}"/>
</p:tagLst>
</file>

<file path=ppt/tags/tag101.xml><?xml version="1.0" encoding="utf-8"?>
<p:tagLst xmlns:p="http://schemas.openxmlformats.org/presentationml/2006/main">
  <p:tag name="KSO_WM_DIAGRAM_VIRTUALLY_FRAME" val="{&quot;height&quot;:344.32307086614173,&quot;left&quot;:47.871968503937026,&quot;top&quot;:342.95,&quot;width&quot;:462.47803149606295}"/>
</p:tagLst>
</file>

<file path=ppt/tags/tag102.xml><?xml version="1.0" encoding="utf-8"?>
<p:tagLst xmlns:p="http://schemas.openxmlformats.org/presentationml/2006/main">
  <p:tag name="KSO_WM_DIAGRAM_VIRTUALLY_FRAME" val="{&quot;height&quot;:344.32307086614173,&quot;left&quot;:47.871968503937026,&quot;top&quot;:342.95,&quot;width&quot;:462.47803149606295}"/>
</p:tagLst>
</file>

<file path=ppt/tags/tag103.xml><?xml version="1.0" encoding="utf-8"?>
<p:tagLst xmlns:p="http://schemas.openxmlformats.org/presentationml/2006/main">
  <p:tag name="KSO_WM_DIAGRAM_VIRTUALLY_FRAME" val="{&quot;height&quot;:344.32307086614173,&quot;left&quot;:47.871968503937026,&quot;top&quot;:342.95,&quot;width&quot;:462.47803149606295}"/>
</p:tagLst>
</file>

<file path=ppt/tags/tag104.xml><?xml version="1.0" encoding="utf-8"?>
<p:tagLst xmlns:p="http://schemas.openxmlformats.org/presentationml/2006/main">
  <p:tag name="KSO_WM_DIAGRAM_VIRTUALLY_FRAME" val="{&quot;height&quot;:344.32307086614173,&quot;left&quot;:47.871968503937026,&quot;top&quot;:342.95,&quot;width&quot;:462.47803149606295}"/>
</p:tagLst>
</file>

<file path=ppt/tags/tag105.xml><?xml version="1.0" encoding="utf-8"?>
<p:tagLst xmlns:p="http://schemas.openxmlformats.org/presentationml/2006/main">
  <p:tag name="KSO_WM_DIAGRAM_VIRTUALLY_FRAME" val="{&quot;height&quot;:344.32307086614173,&quot;left&quot;:47.871968503937026,&quot;top&quot;:342.95,&quot;width&quot;:462.47803149606295}"/>
</p:tagLst>
</file>

<file path=ppt/tags/tag106.xml><?xml version="1.0" encoding="utf-8"?>
<p:tagLst xmlns:p="http://schemas.openxmlformats.org/presentationml/2006/main">
  <p:tag name="KSO_WM_DIAGRAM_VIRTUALLY_FRAME" val="{&quot;height&quot;:344.32307086614173,&quot;left&quot;:47.871968503937026,&quot;top&quot;:342.95,&quot;width&quot;:462.47803149606295}"/>
</p:tagLst>
</file>

<file path=ppt/tags/tag107.xml><?xml version="1.0" encoding="utf-8"?>
<p:tagLst xmlns:p="http://schemas.openxmlformats.org/presentationml/2006/main">
  <p:tag name="KSO_WM_DIAGRAM_VIRTUALLY_FRAME" val="{&quot;height&quot;:344.32307086614173,&quot;left&quot;:47.871968503937026,&quot;top&quot;:342.95,&quot;width&quot;:462.47803149606295}"/>
</p:tagLst>
</file>

<file path=ppt/tags/tag108.xml><?xml version="1.0" encoding="utf-8"?>
<p:tagLst xmlns:p="http://schemas.openxmlformats.org/presentationml/2006/main">
  <p:tag name="KSO_WM_DIAGRAM_VIRTUALLY_FRAME" val="{&quot;height&quot;:344.32307086614173,&quot;left&quot;:47.871968503937026,&quot;top&quot;:342.95,&quot;width&quot;:462.47803149606295}"/>
</p:tagLst>
</file>

<file path=ppt/tags/tag109.xml><?xml version="1.0" encoding="utf-8"?>
<p:tagLst xmlns:p="http://schemas.openxmlformats.org/presentationml/2006/main">
  <p:tag name="KSO_WM_DIAGRAM_VIRTUALLY_FRAME" val="{&quot;height&quot;:344.32307086614173,&quot;left&quot;:47.871968503937026,&quot;top&quot;:342.95,&quot;width&quot;:462.47803149606295}"/>
</p:tagLst>
</file>

<file path=ppt/tags/tag110.xml><?xml version="1.0" encoding="utf-8"?>
<p:tagLst xmlns:p="http://schemas.openxmlformats.org/presentationml/2006/main">
  <p:tag name="KSO_WM_DIAGRAM_VIRTUALLY_FRAME" val="{&quot;height&quot;:344.32307086614173,&quot;left&quot;:47.871968503937026,&quot;top&quot;:342.95,&quot;width&quot;:462.47803149606295}"/>
</p:tagLst>
</file>

<file path=ppt/tags/tag111.xml><?xml version="1.0" encoding="utf-8"?>
<p:tagLst xmlns:p="http://schemas.openxmlformats.org/presentationml/2006/main">
  <p:tag name="KSO_WM_DIAGRAM_VIRTUALLY_FRAME" val="{&quot;height&quot;:344.32307086614173,&quot;left&quot;:47.871968503937026,&quot;top&quot;:342.95,&quot;width&quot;:462.47803149606295}"/>
</p:tagLst>
</file>

<file path=ppt/tags/tag112.xml><?xml version="1.0" encoding="utf-8"?>
<p:tagLst xmlns:p="http://schemas.openxmlformats.org/presentationml/2006/main">
  <p:tag name="KSO_WM_DIAGRAM_VIRTUALLY_FRAME" val="{&quot;height&quot;:344.32307086614173,&quot;left&quot;:47.871968503937026,&quot;top&quot;:342.95,&quot;width&quot;:462.47803149606295}"/>
</p:tagLst>
</file>

<file path=ppt/tags/tag113.xml><?xml version="1.0" encoding="utf-8"?>
<p:tagLst xmlns:p="http://schemas.openxmlformats.org/presentationml/2006/main">
  <p:tag name="KSO_WM_DIAGRAM_VIRTUALLY_FRAME" val="{&quot;height&quot;:344.32307086614173,&quot;left&quot;:47.871968503937026,&quot;top&quot;:342.95,&quot;width&quot;:462.47803149606295}"/>
</p:tagLst>
</file>

<file path=ppt/tags/tag114.xml><?xml version="1.0" encoding="utf-8"?>
<p:tagLst xmlns:p="http://schemas.openxmlformats.org/presentationml/2006/main">
  <p:tag name="KSO_WM_DIAGRAM_VIRTUALLY_FRAME" val="{&quot;height&quot;:344.32307086614173,&quot;left&quot;:47.871968503937026,&quot;top&quot;:342.95,&quot;width&quot;:462.47803149606295}"/>
</p:tagLst>
</file>

<file path=ppt/tags/tag115.xml><?xml version="1.0" encoding="utf-8"?>
<p:tagLst xmlns:p="http://schemas.openxmlformats.org/presentationml/2006/main">
  <p:tag name="KSO_WM_DIAGRAM_VIRTUALLY_FRAME" val="{&quot;height&quot;:344.32307086614173,&quot;left&quot;:47.871968503937026,&quot;top&quot;:342.95,&quot;width&quot;:462.47803149606295}"/>
</p:tagLst>
</file>

<file path=ppt/tags/tag116.xml><?xml version="1.0" encoding="utf-8"?>
<p:tagLst xmlns:p="http://schemas.openxmlformats.org/presentationml/2006/main">
  <p:tag name="KSO_WM_DIAGRAM_VIRTUALLY_FRAME" val="{&quot;height&quot;:344.32307086614173,&quot;left&quot;:47.871968503937026,&quot;top&quot;:342.95,&quot;width&quot;:462.47803149606295}"/>
</p:tagLst>
</file>

<file path=ppt/tags/tag117.xml><?xml version="1.0" encoding="utf-8"?>
<p:tagLst xmlns:p="http://schemas.openxmlformats.org/presentationml/2006/main">
  <p:tag name="KSO_WM_DIAGRAM_VIRTUALLY_FRAME" val="{&quot;height&quot;:344.32307086614173,&quot;left&quot;:47.871968503937026,&quot;top&quot;:342.95,&quot;width&quot;:462.47803149606295}"/>
</p:tagLst>
</file>

<file path=ppt/tags/tag118.xml><?xml version="1.0" encoding="utf-8"?>
<p:tagLst xmlns:p="http://schemas.openxmlformats.org/presentationml/2006/main">
  <p:tag name="KSO_WM_DIAGRAM_VIRTUALLY_FRAME" val="{&quot;height&quot;:344.32307086614173,&quot;left&quot;:47.871968503937026,&quot;top&quot;:342.95,&quot;width&quot;:462.47803149606295}"/>
</p:tagLst>
</file>

<file path=ppt/tags/tag119.xml><?xml version="1.0" encoding="utf-8"?>
<p:tagLst xmlns:p="http://schemas.openxmlformats.org/presentationml/2006/main">
  <p:tag name="KSO_WM_DIAGRAM_VIRTUALLY_FRAME" val="{&quot;height&quot;:344.32307086614173,&quot;left&quot;:47.871968503937026,&quot;top&quot;:342.95,&quot;width&quot;:462.47803149606295}"/>
</p:tagLst>
</file>

<file path=ppt/tags/tag120.xml><?xml version="1.0" encoding="utf-8"?>
<p:tagLst xmlns:p="http://schemas.openxmlformats.org/presentationml/2006/main">
  <p:tag name="KSO_WM_DIAGRAM_VIRTUALLY_FRAME" val="{&quot;height&quot;:344.32307086614173,&quot;left&quot;:47.871968503937026,&quot;top&quot;:342.95,&quot;width&quot;:462.47803149606295}"/>
</p:tagLst>
</file>

<file path=ppt/tags/tag121.xml><?xml version="1.0" encoding="utf-8"?>
<p:tagLst xmlns:p="http://schemas.openxmlformats.org/presentationml/2006/main">
  <p:tag name="KSO_WM_DIAGRAM_VIRTUALLY_FRAME" val="{&quot;height&quot;:344.32307086614173,&quot;left&quot;:47.871968503937026,&quot;top&quot;:342.95,&quot;width&quot;:462.47803149606295}"/>
</p:tagLst>
</file>

<file path=ppt/tags/tag122.xml><?xml version="1.0" encoding="utf-8"?>
<p:tagLst xmlns:p="http://schemas.openxmlformats.org/presentationml/2006/main">
  <p:tag name="KSO_WM_DIAGRAM_VIRTUALLY_FRAME" val="{&quot;height&quot;:344.32307086614173,&quot;left&quot;:47.871968503937026,&quot;top&quot;:342.95,&quot;width&quot;:462.47803149606295}"/>
</p:tagLst>
</file>

<file path=ppt/tags/tag123.xml><?xml version="1.0" encoding="utf-8"?>
<p:tagLst xmlns:p="http://schemas.openxmlformats.org/presentationml/2006/main">
  <p:tag name="KSO_WM_DIAGRAM_VIRTUALLY_FRAME" val="{&quot;height&quot;:344.32307086614173,&quot;left&quot;:47.871968503937026,&quot;top&quot;:342.95,&quot;width&quot;:462.47803149606295}"/>
</p:tagLst>
</file>

<file path=ppt/tags/tag124.xml><?xml version="1.0" encoding="utf-8"?>
<p:tagLst xmlns:p="http://schemas.openxmlformats.org/presentationml/2006/main">
  <p:tag name="KSO_WM_DIAGRAM_VIRTUALLY_FRAME" val="{&quot;height&quot;:344.32307086614173,&quot;left&quot;:47.871968503937026,&quot;top&quot;:342.95,&quot;width&quot;:462.47803149606295}"/>
</p:tagLst>
</file>

<file path=ppt/tags/tag125.xml><?xml version="1.0" encoding="utf-8"?>
<p:tagLst xmlns:p="http://schemas.openxmlformats.org/presentationml/2006/main">
  <p:tag name="KSO_WM_DIAGRAM_VIRTUALLY_FRAME" val="{&quot;height&quot;:344.32307086614173,&quot;left&quot;:47.871968503937026,&quot;top&quot;:342.95,&quot;width&quot;:462.47803149606295}"/>
</p:tagLst>
</file>

<file path=ppt/tags/tag126.xml><?xml version="1.0" encoding="utf-8"?>
<p:tagLst xmlns:p="http://schemas.openxmlformats.org/presentationml/2006/main">
  <p:tag name="KSO_WM_DIAGRAM_VIRTUALLY_FRAME" val="{&quot;height&quot;:344.32307086614173,&quot;left&quot;:47.871968503937026,&quot;top&quot;:342.95,&quot;width&quot;:462.47803149606295}"/>
</p:tagLst>
</file>

<file path=ppt/tags/tag127.xml><?xml version="1.0" encoding="utf-8"?>
<p:tagLst xmlns:p="http://schemas.openxmlformats.org/presentationml/2006/main">
  <p:tag name="KSO_WM_DIAGRAM_VIRTUALLY_FRAME" val="{&quot;height&quot;:344.32307086614173,&quot;left&quot;:47.871968503937026,&quot;top&quot;:342.95,&quot;width&quot;:462.47803149606295}"/>
</p:tagLst>
</file>

<file path=ppt/tags/tag128.xml><?xml version="1.0" encoding="utf-8"?>
<p:tagLst xmlns:p="http://schemas.openxmlformats.org/presentationml/2006/main">
  <p:tag name="KSO_WM_DIAGRAM_VIRTUALLY_FRAME" val="{&quot;height&quot;:344.32307086614173,&quot;left&quot;:47.871968503937026,&quot;top&quot;:342.95,&quot;width&quot;:462.47803149606295}"/>
</p:tagLst>
</file>

<file path=ppt/tags/tag129.xml><?xml version="1.0" encoding="utf-8"?>
<p:tagLst xmlns:p="http://schemas.openxmlformats.org/presentationml/2006/main">
  <p:tag name="KSO_WM_DIAGRAM_VIRTUALLY_FRAME" val="{&quot;height&quot;:344.32307086614173,&quot;left&quot;:47.871968503937026,&quot;top&quot;:342.95,&quot;width&quot;:462.47803149606295}"/>
</p:tagLst>
</file>

<file path=ppt/tags/tag130.xml><?xml version="1.0" encoding="utf-8"?>
<p:tagLst xmlns:p="http://schemas.openxmlformats.org/presentationml/2006/main">
  <p:tag name="KSO_WM_DIAGRAM_VIRTUALLY_FRAME" val="{&quot;height&quot;:344.32307086614173,&quot;left&quot;:47.871968503937026,&quot;top&quot;:342.95,&quot;width&quot;:462.47803149606295}"/>
</p:tagLst>
</file>

<file path=ppt/tags/tag131.xml><?xml version="1.0" encoding="utf-8"?>
<p:tagLst xmlns:p="http://schemas.openxmlformats.org/presentationml/2006/main">
  <p:tag name="KSO_WM_DIAGRAM_VIRTUALLY_FRAME" val="{&quot;height&quot;:344.32307086614173,&quot;left&quot;:47.871968503937026,&quot;top&quot;:342.95,&quot;width&quot;:462.47803149606295}"/>
</p:tagLst>
</file>

<file path=ppt/tags/tag132.xml><?xml version="1.0" encoding="utf-8"?>
<p:tagLst xmlns:p="http://schemas.openxmlformats.org/presentationml/2006/main">
  <p:tag name="KSO_WM_DIAGRAM_VIRTUALLY_FRAME" val="{&quot;height&quot;:344.32307086614173,&quot;left&quot;:47.871968503937026,&quot;top&quot;:342.95,&quot;width&quot;:462.47803149606295}"/>
</p:tagLst>
</file>

<file path=ppt/tags/tag133.xml><?xml version="1.0" encoding="utf-8"?>
<p:tagLst xmlns:p="http://schemas.openxmlformats.org/presentationml/2006/main">
  <p:tag name="KSO_WM_DIAGRAM_VIRTUALLY_FRAME" val="{&quot;height&quot;:344.32307086614173,&quot;left&quot;:47.871968503937026,&quot;top&quot;:342.95,&quot;width&quot;:462.47803149606295}"/>
</p:tagLst>
</file>

<file path=ppt/tags/tag134.xml><?xml version="1.0" encoding="utf-8"?>
<p:tagLst xmlns:p="http://schemas.openxmlformats.org/presentationml/2006/main">
  <p:tag name="KSO_WM_DIAGRAM_VIRTUALLY_FRAME" val="{&quot;height&quot;:344.32307086614173,&quot;left&quot;:47.871968503937026,&quot;top&quot;:342.95,&quot;width&quot;:462.47803149606295}"/>
</p:tagLst>
</file>

<file path=ppt/tags/tag135.xml><?xml version="1.0" encoding="utf-8"?>
<p:tagLst xmlns:p="http://schemas.openxmlformats.org/presentationml/2006/main">
  <p:tag name="KSO_WM_DIAGRAM_VIRTUALLY_FRAME" val="{&quot;height&quot;:344.32307086614173,&quot;left&quot;:47.871968503937026,&quot;top&quot;:342.95,&quot;width&quot;:462.47803149606295}"/>
</p:tagLst>
</file>

<file path=ppt/tags/tag136.xml><?xml version="1.0" encoding="utf-8"?>
<p:tagLst xmlns:p="http://schemas.openxmlformats.org/presentationml/2006/main">
  <p:tag name="KSO_WM_DIAGRAM_VIRTUALLY_FRAME" val="{&quot;height&quot;:344.32307086614173,&quot;left&quot;:47.871968503937026,&quot;top&quot;:342.95,&quot;width&quot;:462.47803149606295}"/>
</p:tagLst>
</file>

<file path=ppt/tags/tag137.xml><?xml version="1.0" encoding="utf-8"?>
<p:tagLst xmlns:p="http://schemas.openxmlformats.org/presentationml/2006/main">
  <p:tag name="KSO_WM_DIAGRAM_VIRTUALLY_FRAME" val="{&quot;height&quot;:344.32307086614173,&quot;left&quot;:47.871968503937026,&quot;top&quot;:342.95,&quot;width&quot;:462.47803149606295}"/>
</p:tagLst>
</file>

<file path=ppt/tags/tag138.xml><?xml version="1.0" encoding="utf-8"?>
<p:tagLst xmlns:p="http://schemas.openxmlformats.org/presentationml/2006/main">
  <p:tag name="KSO_WM_DIAGRAM_VIRTUALLY_FRAME" val="{&quot;height&quot;:344.32307086614173,&quot;left&quot;:47.871968503937026,&quot;top&quot;:342.95,&quot;width&quot;:462.47803149606295}"/>
</p:tagLst>
</file>

<file path=ppt/tags/tag139.xml><?xml version="1.0" encoding="utf-8"?>
<p:tagLst xmlns:p="http://schemas.openxmlformats.org/presentationml/2006/main">
  <p:tag name="KSO_WM_DIAGRAM_VIRTUALLY_FRAME" val="{&quot;height&quot;:344.32307086614173,&quot;left&quot;:47.871968503937026,&quot;top&quot;:342.95,&quot;width&quot;:462.47803149606295}"/>
</p:tagLst>
</file>

<file path=ppt/tags/tag140.xml><?xml version="1.0" encoding="utf-8"?>
<p:tagLst xmlns:p="http://schemas.openxmlformats.org/presentationml/2006/main">
  <p:tag name="KSO_WM_DIAGRAM_VIRTUALLY_FRAME" val="{&quot;height&quot;:344.32307086614173,&quot;left&quot;:47.871968503937026,&quot;top&quot;:342.95,&quot;width&quot;:462.47803149606295}"/>
</p:tagLst>
</file>

<file path=ppt/tags/tag141.xml><?xml version="1.0" encoding="utf-8"?>
<p:tagLst xmlns:p="http://schemas.openxmlformats.org/presentationml/2006/main">
  <p:tag name="KSO_WM_DIAGRAM_VIRTUALLY_FRAME" val="{&quot;height&quot;:344.32307086614173,&quot;left&quot;:47.871968503937026,&quot;top&quot;:342.95,&quot;width&quot;:462.47803149606295}"/>
</p:tagLst>
</file>

<file path=ppt/tags/tag142.xml><?xml version="1.0" encoding="utf-8"?>
<p:tagLst xmlns:p="http://schemas.openxmlformats.org/presentationml/2006/main">
  <p:tag name="KSO_WM_DIAGRAM_VIRTUALLY_FRAME" val="{&quot;height&quot;:344.32307086614173,&quot;left&quot;:47.871968503937026,&quot;top&quot;:342.95,&quot;width&quot;:462.47803149606295}"/>
</p:tagLst>
</file>

<file path=ppt/tags/tag143.xml><?xml version="1.0" encoding="utf-8"?>
<p:tagLst xmlns:p="http://schemas.openxmlformats.org/presentationml/2006/main">
  <p:tag name="KSO_WM_DIAGRAM_VIRTUALLY_FRAME" val="{&quot;height&quot;:344.32307086614173,&quot;left&quot;:47.871968503937026,&quot;top&quot;:342.95,&quot;width&quot;:462.47803149606295}"/>
</p:tagLst>
</file>

<file path=ppt/tags/tag144.xml><?xml version="1.0" encoding="utf-8"?>
<p:tagLst xmlns:p="http://schemas.openxmlformats.org/presentationml/2006/main">
  <p:tag name="KSO_WM_DIAGRAM_VIRTUALLY_FRAME" val="{&quot;height&quot;:344.32307086614173,&quot;left&quot;:47.871968503937026,&quot;top&quot;:342.95,&quot;width&quot;:462.47803149606295}"/>
</p:tagLst>
</file>

<file path=ppt/tags/tag145.xml><?xml version="1.0" encoding="utf-8"?>
<p:tagLst xmlns:p="http://schemas.openxmlformats.org/presentationml/2006/main">
  <p:tag name="KSO_WM_DIAGRAM_VIRTUALLY_FRAME" val="{&quot;height&quot;:344.32307086614173,&quot;left&quot;:47.871968503937026,&quot;top&quot;:342.95,&quot;width&quot;:462.47803149606295}"/>
</p:tagLst>
</file>

<file path=ppt/tags/tag146.xml><?xml version="1.0" encoding="utf-8"?>
<p:tagLst xmlns:p="http://schemas.openxmlformats.org/presentationml/2006/main">
  <p:tag name="KSO_WM_DIAGRAM_VIRTUALLY_FRAME" val="{&quot;height&quot;:344.32307086614173,&quot;left&quot;:47.871968503937026,&quot;top&quot;:342.95,&quot;width&quot;:462.47803149606295}"/>
</p:tagLst>
</file>

<file path=ppt/tags/tag147.xml><?xml version="1.0" encoding="utf-8"?>
<p:tagLst xmlns:p="http://schemas.openxmlformats.org/presentationml/2006/main">
  <p:tag name="KSO_WM_DIAGRAM_VIRTUALLY_FRAME" val="{&quot;height&quot;:344.32307086614173,&quot;left&quot;:47.871968503937026,&quot;top&quot;:342.95,&quot;width&quot;:462.47803149606295}"/>
</p:tagLst>
</file>

<file path=ppt/tags/tag148.xml><?xml version="1.0" encoding="utf-8"?>
<p:tagLst xmlns:p="http://schemas.openxmlformats.org/presentationml/2006/main">
  <p:tag name="KSO_WM_DIAGRAM_VIRTUALLY_FRAME" val="{&quot;height&quot;:344.32307086614173,&quot;left&quot;:47.871968503937026,&quot;top&quot;:342.95,&quot;width&quot;:462.47803149606295}"/>
</p:tagLst>
</file>

<file path=ppt/tags/tag149.xml><?xml version="1.0" encoding="utf-8"?>
<p:tagLst xmlns:p="http://schemas.openxmlformats.org/presentationml/2006/main">
  <p:tag name="KSO_WM_DIAGRAM_VIRTUALLY_FRAME" val="{&quot;height&quot;:344.32307086614173,&quot;left&quot;:47.871968503937026,&quot;top&quot;:342.95,&quot;width&quot;:462.47803149606295}"/>
</p:tagLst>
</file>

<file path=ppt/tags/tag150.xml><?xml version="1.0" encoding="utf-8"?>
<p:tagLst xmlns:p="http://schemas.openxmlformats.org/presentationml/2006/main">
  <p:tag name="KSO_WM_DIAGRAM_VIRTUALLY_FRAME" val="{&quot;height&quot;:344.32307086614173,&quot;left&quot;:47.871968503937026,&quot;top&quot;:342.95,&quot;width&quot;:462.47803149606295}"/>
</p:tagLst>
</file>

<file path=ppt/tags/tag151.xml><?xml version="1.0" encoding="utf-8"?>
<p:tagLst xmlns:p="http://schemas.openxmlformats.org/presentationml/2006/main">
  <p:tag name="KSO_WM_DIAGRAM_VIRTUALLY_FRAME" val="{&quot;height&quot;:344.32307086614173,&quot;left&quot;:47.871968503937026,&quot;top&quot;:342.95,&quot;width&quot;:462.47803149606295}"/>
</p:tagLst>
</file>

<file path=ppt/tags/tag152.xml><?xml version="1.0" encoding="utf-8"?>
<p:tagLst xmlns:p="http://schemas.openxmlformats.org/presentationml/2006/main">
  <p:tag name="KSO_WM_DIAGRAM_VIRTUALLY_FRAME" val="{&quot;height&quot;:344.32307086614173,&quot;left&quot;:47.871968503937026,&quot;top&quot;:342.95,&quot;width&quot;:462.47803149606295}"/>
</p:tagLst>
</file>

<file path=ppt/tags/tag153.xml><?xml version="1.0" encoding="utf-8"?>
<p:tagLst xmlns:p="http://schemas.openxmlformats.org/presentationml/2006/main">
  <p:tag name="KSO_WM_DIAGRAM_VIRTUALLY_FRAME" val="{&quot;height&quot;:344.32307086614173,&quot;left&quot;:47.871968503937026,&quot;top&quot;:342.95,&quot;width&quot;:462.47803149606295}"/>
</p:tagLst>
</file>

<file path=ppt/tags/tag154.xml><?xml version="1.0" encoding="utf-8"?>
<p:tagLst xmlns:p="http://schemas.openxmlformats.org/presentationml/2006/main">
  <p:tag name="KSO_WM_DIAGRAM_VIRTUALLY_FRAME" val="{&quot;height&quot;:344.32307086614173,&quot;left&quot;:47.871968503937026,&quot;top&quot;:342.95,&quot;width&quot;:462.47803149606295}"/>
</p:tagLst>
</file>

<file path=ppt/tags/tag155.xml><?xml version="1.0" encoding="utf-8"?>
<p:tagLst xmlns:p="http://schemas.openxmlformats.org/presentationml/2006/main">
  <p:tag name="KSO_WM_DIAGRAM_VIRTUALLY_FRAME" val="{&quot;height&quot;:344.32307086614173,&quot;left&quot;:47.871968503937026,&quot;top&quot;:342.95,&quot;width&quot;:462.47803149606295}"/>
</p:tagLst>
</file>

<file path=ppt/tags/tag156.xml><?xml version="1.0" encoding="utf-8"?>
<p:tagLst xmlns:p="http://schemas.openxmlformats.org/presentationml/2006/main">
  <p:tag name="KSO_WM_DIAGRAM_VIRTUALLY_FRAME" val="{&quot;height&quot;:344.32307086614173,&quot;left&quot;:47.871968503937026,&quot;top&quot;:342.95,&quot;width&quot;:462.47803149606295}"/>
</p:tagLst>
</file>

<file path=ppt/tags/tag157.xml><?xml version="1.0" encoding="utf-8"?>
<p:tagLst xmlns:p="http://schemas.openxmlformats.org/presentationml/2006/main">
  <p:tag name="KSO_WM_DIAGRAM_VIRTUALLY_FRAME" val="{&quot;height&quot;:344.32307086614173,&quot;left&quot;:47.871968503937026,&quot;top&quot;:342.95,&quot;width&quot;:462.47803149606295}"/>
</p:tagLst>
</file>

<file path=ppt/tags/tag158.xml><?xml version="1.0" encoding="utf-8"?>
<p:tagLst xmlns:p="http://schemas.openxmlformats.org/presentationml/2006/main">
  <p:tag name="KSO_WM_DIAGRAM_VIRTUALLY_FRAME" val="{&quot;height&quot;:344.32307086614173,&quot;left&quot;:47.871968503937026,&quot;top&quot;:342.95,&quot;width&quot;:462.47803149606295}"/>
</p:tagLst>
</file>

<file path=ppt/tags/tag159.xml><?xml version="1.0" encoding="utf-8"?>
<p:tagLst xmlns:p="http://schemas.openxmlformats.org/presentationml/2006/main">
  <p:tag name="KSO_WM_DIAGRAM_VIRTUALLY_FRAME" val="{&quot;height&quot;:344.32307086614173,&quot;left&quot;:47.871968503937026,&quot;top&quot;:342.95,&quot;width&quot;:462.47803149606295}"/>
</p:tagLst>
</file>

<file path=ppt/tags/tag160.xml><?xml version="1.0" encoding="utf-8"?>
<p:tagLst xmlns:p="http://schemas.openxmlformats.org/presentationml/2006/main">
  <p:tag name="KSO_WM_DIAGRAM_VIRTUALLY_FRAME" val="{&quot;height&quot;:344.32307086614173,&quot;left&quot;:47.871968503937026,&quot;top&quot;:342.95,&quot;width&quot;:462.47803149606295}"/>
</p:tagLst>
</file>

<file path=ppt/tags/tag161.xml><?xml version="1.0" encoding="utf-8"?>
<p:tagLst xmlns:p="http://schemas.openxmlformats.org/presentationml/2006/main">
  <p:tag name="KSO_WM_DIAGRAM_VIRTUALLY_FRAME" val="{&quot;height&quot;:344.32307086614173,&quot;left&quot;:47.871968503937026,&quot;top&quot;:342.95,&quot;width&quot;:462.47803149606295}"/>
</p:tagLst>
</file>

<file path=ppt/tags/tag162.xml><?xml version="1.0" encoding="utf-8"?>
<p:tagLst xmlns:p="http://schemas.openxmlformats.org/presentationml/2006/main">
  <p:tag name="KSO_WM_DIAGRAM_VIRTUALLY_FRAME" val="{&quot;height&quot;:344.32307086614173,&quot;left&quot;:47.871968503937026,&quot;top&quot;:342.95,&quot;width&quot;:462.47803149606295}"/>
</p:tagLst>
</file>

<file path=ppt/tags/tag163.xml><?xml version="1.0" encoding="utf-8"?>
<p:tagLst xmlns:p="http://schemas.openxmlformats.org/presentationml/2006/main">
  <p:tag name="KSO_WM_DIAGRAM_VIRTUALLY_FRAME" val="{&quot;height&quot;:344.32307086614173,&quot;left&quot;:47.871968503937026,&quot;top&quot;:342.95,&quot;width&quot;:462.47803149606295}"/>
</p:tagLst>
</file>

<file path=ppt/tags/tag164.xml><?xml version="1.0" encoding="utf-8"?>
<p:tagLst xmlns:p="http://schemas.openxmlformats.org/presentationml/2006/main">
  <p:tag name="KSO_WM_DIAGRAM_VIRTUALLY_FRAME" val="{&quot;height&quot;:344.32307086614173,&quot;left&quot;:47.871968503937026,&quot;top&quot;:342.95,&quot;width&quot;:462.47803149606295}"/>
</p:tagLst>
</file>

<file path=ppt/tags/tag165.xml><?xml version="1.0" encoding="utf-8"?>
<p:tagLst xmlns:p="http://schemas.openxmlformats.org/presentationml/2006/main">
  <p:tag name="KSO_WM_DIAGRAM_VIRTUALLY_FRAME" val="{&quot;height&quot;:344.32307086614173,&quot;left&quot;:47.871968503937026,&quot;top&quot;:342.95,&quot;width&quot;:462.47803149606295}"/>
</p:tagLst>
</file>

<file path=ppt/tags/tag166.xml><?xml version="1.0" encoding="utf-8"?>
<p:tagLst xmlns:p="http://schemas.openxmlformats.org/presentationml/2006/main">
  <p:tag name="KSO_WM_DIAGRAM_VIRTUALLY_FRAME" val="{&quot;height&quot;:344.32307086614173,&quot;left&quot;:47.871968503937026,&quot;top&quot;:342.95,&quot;width&quot;:462.47803149606295}"/>
</p:tagLst>
</file>

<file path=ppt/tags/tag167.xml><?xml version="1.0" encoding="utf-8"?>
<p:tagLst xmlns:p="http://schemas.openxmlformats.org/presentationml/2006/main">
  <p:tag name="KSO_WM_DIAGRAM_VIRTUALLY_FRAME" val="{&quot;height&quot;:344.32307086614173,&quot;left&quot;:47.871968503937026,&quot;top&quot;:342.95,&quot;width&quot;:462.47803149606295}"/>
</p:tagLst>
</file>

<file path=ppt/tags/tag168.xml><?xml version="1.0" encoding="utf-8"?>
<p:tagLst xmlns:p="http://schemas.openxmlformats.org/presentationml/2006/main">
  <p:tag name="KSO_WM_DIAGRAM_VIRTUALLY_FRAME" val="{&quot;height&quot;:344.32307086614173,&quot;left&quot;:47.871968503937026,&quot;top&quot;:342.95,&quot;width&quot;:462.47803149606295}"/>
</p:tagLst>
</file>

<file path=ppt/tags/tag169.xml><?xml version="1.0" encoding="utf-8"?>
<p:tagLst xmlns:p="http://schemas.openxmlformats.org/presentationml/2006/main">
  <p:tag name="KSO_WM_DIAGRAM_VIRTUALLY_FRAME" val="{&quot;height&quot;:344.32307086614173,&quot;left&quot;:47.871968503937026,&quot;top&quot;:342.95,&quot;width&quot;:462.47803149606295}"/>
</p:tagLst>
</file>

<file path=ppt/tags/tag170.xml><?xml version="1.0" encoding="utf-8"?>
<p:tagLst xmlns:p="http://schemas.openxmlformats.org/presentationml/2006/main">
  <p:tag name="KSO_WM_DIAGRAM_VIRTUALLY_FRAME" val="{&quot;height&quot;:344.32307086614173,&quot;left&quot;:47.871968503937026,&quot;top&quot;:342.95,&quot;width&quot;:462.47803149606295}"/>
</p:tagLst>
</file>

<file path=ppt/tags/tag171.xml><?xml version="1.0" encoding="utf-8"?>
<p:tagLst xmlns:p="http://schemas.openxmlformats.org/presentationml/2006/main">
  <p:tag name="KSO_WM_DIAGRAM_VIRTUALLY_FRAME" val="{&quot;height&quot;:344.32307086614173,&quot;left&quot;:47.871968503937026,&quot;top&quot;:342.95,&quot;width&quot;:462.47803149606295}"/>
</p:tagLst>
</file>

<file path=ppt/tags/tag172.xml><?xml version="1.0" encoding="utf-8"?>
<p:tagLst xmlns:p="http://schemas.openxmlformats.org/presentationml/2006/main">
  <p:tag name="KSO_WM_DIAGRAM_VIRTUALLY_FRAME" val="{&quot;height&quot;:344.32307086614173,&quot;left&quot;:47.871968503937026,&quot;top&quot;:342.95,&quot;width&quot;:462.47803149606295}"/>
</p:tagLst>
</file>

<file path=ppt/tags/tag173.xml><?xml version="1.0" encoding="utf-8"?>
<p:tagLst xmlns:p="http://schemas.openxmlformats.org/presentationml/2006/main">
  <p:tag name="KSO_WM_DIAGRAM_VIRTUALLY_FRAME" val="{&quot;height&quot;:344.32307086614173,&quot;left&quot;:47.871968503937026,&quot;top&quot;:342.95,&quot;width&quot;:462.47803149606295}"/>
</p:tagLst>
</file>

<file path=ppt/tags/tag174.xml><?xml version="1.0" encoding="utf-8"?>
<p:tagLst xmlns:p="http://schemas.openxmlformats.org/presentationml/2006/main">
  <p:tag name="KSO_WM_DIAGRAM_VIRTUALLY_FRAME" val="{&quot;height&quot;:344.32307086614173,&quot;left&quot;:47.871968503937026,&quot;top&quot;:342.95,&quot;width&quot;:462.47803149606295}"/>
</p:tagLst>
</file>

<file path=ppt/tags/tag175.xml><?xml version="1.0" encoding="utf-8"?>
<p:tagLst xmlns:p="http://schemas.openxmlformats.org/presentationml/2006/main">
  <p:tag name="KSO_WM_DIAGRAM_VIRTUALLY_FRAME" val="{&quot;height&quot;:344.32307086614173,&quot;left&quot;:47.871968503937026,&quot;top&quot;:342.95,&quot;width&quot;:462.47803149606295}"/>
</p:tagLst>
</file>

<file path=ppt/tags/tag176.xml><?xml version="1.0" encoding="utf-8"?>
<p:tagLst xmlns:p="http://schemas.openxmlformats.org/presentationml/2006/main">
  <p:tag name="KSO_WM_DIAGRAM_VIRTUALLY_FRAME" val="{&quot;height&quot;:344.32307086614173,&quot;left&quot;:47.871968503937026,&quot;top&quot;:342.95,&quot;width&quot;:462.47803149606295}"/>
</p:tagLst>
</file>

<file path=ppt/tags/tag177.xml><?xml version="1.0" encoding="utf-8"?>
<p:tagLst xmlns:p="http://schemas.openxmlformats.org/presentationml/2006/main">
  <p:tag name="KSO_WM_DIAGRAM_VIRTUALLY_FRAME" val="{&quot;height&quot;:344.32307086614173,&quot;left&quot;:47.871968503937026,&quot;top&quot;:342.95,&quot;width&quot;:462.47803149606295}"/>
</p:tagLst>
</file>

<file path=ppt/tags/tag178.xml><?xml version="1.0" encoding="utf-8"?>
<p:tagLst xmlns:p="http://schemas.openxmlformats.org/presentationml/2006/main">
  <p:tag name="KSO_WM_DIAGRAM_VIRTUALLY_FRAME" val="{&quot;height&quot;:344.32307086614173,&quot;left&quot;:47.871968503937026,&quot;top&quot;:342.95,&quot;width&quot;:462.47803149606295}"/>
</p:tagLst>
</file>

<file path=ppt/tags/tag179.xml><?xml version="1.0" encoding="utf-8"?>
<p:tagLst xmlns:p="http://schemas.openxmlformats.org/presentationml/2006/main">
  <p:tag name="KSO_WM_DIAGRAM_VIRTUALLY_FRAME" val="{&quot;height&quot;:344.32307086614173,&quot;left&quot;:47.871968503937026,&quot;top&quot;:342.95,&quot;width&quot;:462.47803149606295}"/>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Office 2013 - 2022 Theme</Template>
  <TotalTime>0</TotalTime>
  <Words>33112</Words>
  <Application>WPS 演示</Application>
  <PresentationFormat>A4 Paper (210x297 mm)</PresentationFormat>
  <Paragraphs>621</Paragraphs>
  <Slides>18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宋体</vt:lpstr>
      <vt:lpstr>Wingdings</vt:lpstr>
      <vt:lpstr>Calibri</vt:lpstr>
      <vt:lpstr>Calibri Light</vt:lpstr>
      <vt:lpstr>等线 Light</vt:lpstr>
      <vt:lpstr>等线</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FONE</dc:creator>
  <cp:lastModifiedBy>Hsong</cp:lastModifiedBy>
  <cp:revision>52</cp:revision>
  <dcterms:created xsi:type="dcterms:W3CDTF">2025-09-22T07:57:00Z</dcterms:created>
  <dcterms:modified xsi:type="dcterms:W3CDTF">2026-07-29T09:43:18Z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C971CAFD03F30BB3649D6B68E8E24FB4_43</vt:lpwstr>
  </property>
  <property fmtid="{D5CDD505-2E9C-101B-9397-08002B2CF9AE}" pid="3" name="KSOProductBuildVer">
    <vt:lpwstr>2052-12.1.0.26895</vt:lpwstr>
  </property>
</Properties>
</file>